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Hedvig Letters Sans" charset="-122" pitchFamily="34"/>
      <p:regular r:id="rId20"/>
    </p:embeddedFont>
    <p:embeddedFont>
      <p:font typeface="Liter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7159d2cb1db9f63304d3b6d08834aed8df0548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4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432578" y="729615"/>
            <a:ext cx="3322320" cy="502920"/>
          </a:xfrm>
          <a:custGeom>
            <a:avLst/>
            <a:gdLst/>
            <a:ahLst/>
            <a:cxnLst/>
            <a:rect l="l" t="t" r="r" b="b"/>
            <a:pathLst>
              <a:path w="3322320" h="502920">
                <a:moveTo>
                  <a:pt x="251460" y="0"/>
                </a:moveTo>
                <a:lnTo>
                  <a:pt x="3070860" y="0"/>
                </a:lnTo>
                <a:cubicBezTo>
                  <a:pt x="3209738" y="0"/>
                  <a:pt x="3322320" y="112582"/>
                  <a:pt x="3322320" y="251460"/>
                </a:cubicBezTo>
                <a:lnTo>
                  <a:pt x="3322320" y="251460"/>
                </a:lnTo>
                <a:cubicBezTo>
                  <a:pt x="3322320" y="390338"/>
                  <a:pt x="3209738" y="502920"/>
                  <a:pt x="307086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D85D3C">
              <a:alpha val="20000"/>
            </a:srgbClr>
          </a:solidFill>
          <a:ln w="10160">
            <a:solidFill>
              <a:srgbClr val="D85D3C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22125" y="885825"/>
            <a:ext cx="29476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135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Intelligence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759" y="1845945"/>
            <a:ext cx="881062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 Data Role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Job Market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0" y="4360545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8" name="Text 5"/>
          <p:cNvSpPr/>
          <p:nvPr/>
        </p:nvSpPr>
        <p:spPr>
          <a:xfrm>
            <a:off x="1757363" y="4722495"/>
            <a:ext cx="86772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6B7A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insights into salaries, skills, and market trends across data professions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988112" y="588454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0" name="Text 7"/>
          <p:cNvSpPr/>
          <p:nvPr/>
        </p:nvSpPr>
        <p:spPr>
          <a:xfrm>
            <a:off x="3297674" y="5865495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2024 Analysis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982646" y="588454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2" name="Text 9"/>
          <p:cNvSpPr/>
          <p:nvPr/>
        </p:nvSpPr>
        <p:spPr>
          <a:xfrm>
            <a:off x="5292209" y="5865495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742 Job Opportunities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9883" y="588454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4" name="Text 11"/>
          <p:cNvSpPr/>
          <p:nvPr/>
        </p:nvSpPr>
        <p:spPr>
          <a:xfrm>
            <a:off x="7925158" y="5865495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343 Companies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7103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spc="62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699684"/>
            <a:ext cx="11754697" cy="524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32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842" y="1399369"/>
            <a:ext cx="1119495" cy="52476"/>
          </a:xfrm>
          <a:custGeom>
            <a:avLst/>
            <a:gdLst/>
            <a:ahLst/>
            <a:cxnLst/>
            <a:rect l="l" t="t" r="r" b="b"/>
            <a:pathLst>
              <a:path w="1119495" h="52476">
                <a:moveTo>
                  <a:pt x="0" y="0"/>
                </a:moveTo>
                <a:lnTo>
                  <a:pt x="1119495" y="0"/>
                </a:lnTo>
                <a:lnTo>
                  <a:pt x="1119495" y="52476"/>
                </a:lnTo>
                <a:lnTo>
                  <a:pt x="0" y="52476"/>
                </a:lnTo>
                <a:lnTo>
                  <a:pt x="0" y="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5" name="Shape 3"/>
          <p:cNvSpPr/>
          <p:nvPr/>
        </p:nvSpPr>
        <p:spPr>
          <a:xfrm>
            <a:off x="367334" y="1801687"/>
            <a:ext cx="5588729" cy="1897894"/>
          </a:xfrm>
          <a:custGeom>
            <a:avLst/>
            <a:gdLst/>
            <a:ahLst/>
            <a:cxnLst/>
            <a:rect l="l" t="t" r="r" b="b"/>
            <a:pathLst>
              <a:path w="5588729" h="1897894">
                <a:moveTo>
                  <a:pt x="0" y="0"/>
                </a:moveTo>
                <a:lnTo>
                  <a:pt x="5518753" y="0"/>
                </a:lnTo>
                <a:cubicBezTo>
                  <a:pt x="5557400" y="0"/>
                  <a:pt x="5588729" y="31329"/>
                  <a:pt x="5588729" y="69975"/>
                </a:cubicBezTo>
                <a:lnTo>
                  <a:pt x="5588729" y="1827918"/>
                </a:lnTo>
                <a:cubicBezTo>
                  <a:pt x="5588729" y="1866565"/>
                  <a:pt x="5557400" y="1897894"/>
                  <a:pt x="5518753" y="1897894"/>
                </a:cubicBezTo>
                <a:lnTo>
                  <a:pt x="0" y="1897894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7334" y="1801687"/>
            <a:ext cx="34984" cy="1897894"/>
          </a:xfrm>
          <a:custGeom>
            <a:avLst/>
            <a:gdLst/>
            <a:ahLst/>
            <a:cxnLst/>
            <a:rect l="l" t="t" r="r" b="b"/>
            <a:pathLst>
              <a:path w="34984" h="1897894">
                <a:moveTo>
                  <a:pt x="0" y="0"/>
                </a:moveTo>
                <a:lnTo>
                  <a:pt x="34984" y="0"/>
                </a:lnTo>
                <a:lnTo>
                  <a:pt x="34984" y="1897894"/>
                </a:lnTo>
                <a:lnTo>
                  <a:pt x="0" y="1897894"/>
                </a:lnTo>
                <a:lnTo>
                  <a:pt x="0" y="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7" name="Shape 5"/>
          <p:cNvSpPr/>
          <p:nvPr/>
        </p:nvSpPr>
        <p:spPr>
          <a:xfrm>
            <a:off x="664700" y="2081561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8" name="Text 6"/>
          <p:cNvSpPr/>
          <p:nvPr/>
        </p:nvSpPr>
        <p:spPr>
          <a:xfrm>
            <a:off x="599105" y="2081561"/>
            <a:ext cx="690938" cy="55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9369" y="2204006"/>
            <a:ext cx="2099053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Snapshot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700" y="2851214"/>
            <a:ext cx="5098950" cy="56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 and market overview including job volume, company participation, and salary benchmarks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2445" y="1801687"/>
            <a:ext cx="5588729" cy="1897894"/>
          </a:xfrm>
          <a:custGeom>
            <a:avLst/>
            <a:gdLst/>
            <a:ahLst/>
            <a:cxnLst/>
            <a:rect l="l" t="t" r="r" b="b"/>
            <a:pathLst>
              <a:path w="5588729" h="1897894">
                <a:moveTo>
                  <a:pt x="0" y="0"/>
                </a:moveTo>
                <a:lnTo>
                  <a:pt x="5518753" y="0"/>
                </a:lnTo>
                <a:cubicBezTo>
                  <a:pt x="5557400" y="0"/>
                  <a:pt x="5588729" y="31329"/>
                  <a:pt x="5588729" y="69975"/>
                </a:cubicBezTo>
                <a:lnTo>
                  <a:pt x="5588729" y="1827918"/>
                </a:lnTo>
                <a:cubicBezTo>
                  <a:pt x="5588729" y="1866565"/>
                  <a:pt x="5557400" y="1897894"/>
                  <a:pt x="5518753" y="1897894"/>
                </a:cubicBezTo>
                <a:lnTo>
                  <a:pt x="0" y="1897894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52445" y="1801687"/>
            <a:ext cx="34984" cy="1897894"/>
          </a:xfrm>
          <a:custGeom>
            <a:avLst/>
            <a:gdLst/>
            <a:ahLst/>
            <a:cxnLst/>
            <a:rect l="l" t="t" r="r" b="b"/>
            <a:pathLst>
              <a:path w="34984" h="1897894">
                <a:moveTo>
                  <a:pt x="0" y="0"/>
                </a:moveTo>
                <a:lnTo>
                  <a:pt x="34984" y="0"/>
                </a:lnTo>
                <a:lnTo>
                  <a:pt x="34984" y="1897894"/>
                </a:lnTo>
                <a:lnTo>
                  <a:pt x="0" y="1897894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3" name="Shape 11"/>
          <p:cNvSpPr/>
          <p:nvPr/>
        </p:nvSpPr>
        <p:spPr>
          <a:xfrm>
            <a:off x="6549811" y="2081561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216" y="2081561"/>
            <a:ext cx="690938" cy="55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84480" y="2204006"/>
            <a:ext cx="1871656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49811" y="2851214"/>
            <a:ext cx="5098950" cy="56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compensation patterns, salary ranges, and high-paying role identification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7334" y="3979455"/>
            <a:ext cx="5588729" cy="1897894"/>
          </a:xfrm>
          <a:custGeom>
            <a:avLst/>
            <a:gdLst/>
            <a:ahLst/>
            <a:cxnLst/>
            <a:rect l="l" t="t" r="r" b="b"/>
            <a:pathLst>
              <a:path w="5588729" h="1897894">
                <a:moveTo>
                  <a:pt x="0" y="0"/>
                </a:moveTo>
                <a:lnTo>
                  <a:pt x="5518753" y="0"/>
                </a:lnTo>
                <a:cubicBezTo>
                  <a:pt x="5557400" y="0"/>
                  <a:pt x="5588729" y="31329"/>
                  <a:pt x="5588729" y="69975"/>
                </a:cubicBezTo>
                <a:lnTo>
                  <a:pt x="5588729" y="1827918"/>
                </a:lnTo>
                <a:cubicBezTo>
                  <a:pt x="5588729" y="1866565"/>
                  <a:pt x="5557400" y="1897894"/>
                  <a:pt x="5518753" y="1897894"/>
                </a:cubicBezTo>
                <a:lnTo>
                  <a:pt x="0" y="1897894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67334" y="3979455"/>
            <a:ext cx="34984" cy="1897894"/>
          </a:xfrm>
          <a:custGeom>
            <a:avLst/>
            <a:gdLst/>
            <a:ahLst/>
            <a:cxnLst/>
            <a:rect l="l" t="t" r="r" b="b"/>
            <a:pathLst>
              <a:path w="34984" h="1897894">
                <a:moveTo>
                  <a:pt x="0" y="0"/>
                </a:moveTo>
                <a:lnTo>
                  <a:pt x="34984" y="0"/>
                </a:lnTo>
                <a:lnTo>
                  <a:pt x="34984" y="1897894"/>
                </a:lnTo>
                <a:lnTo>
                  <a:pt x="0" y="1897894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19" name="Shape 17"/>
          <p:cNvSpPr/>
          <p:nvPr/>
        </p:nvSpPr>
        <p:spPr>
          <a:xfrm>
            <a:off x="664700" y="4259329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0" name="Text 18"/>
          <p:cNvSpPr/>
          <p:nvPr/>
        </p:nvSpPr>
        <p:spPr>
          <a:xfrm>
            <a:off x="599105" y="4259329"/>
            <a:ext cx="690938" cy="55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99369" y="4381773"/>
            <a:ext cx="2667547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Demand Patterns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4700" y="5028981"/>
            <a:ext cx="5098950" cy="56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competency requirements across roles including Python, SQL, Excel, and cloud technologies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52445" y="3979455"/>
            <a:ext cx="5588729" cy="1897894"/>
          </a:xfrm>
          <a:custGeom>
            <a:avLst/>
            <a:gdLst/>
            <a:ahLst/>
            <a:cxnLst/>
            <a:rect l="l" t="t" r="r" b="b"/>
            <a:pathLst>
              <a:path w="5588729" h="1897894">
                <a:moveTo>
                  <a:pt x="0" y="0"/>
                </a:moveTo>
                <a:lnTo>
                  <a:pt x="5518753" y="0"/>
                </a:lnTo>
                <a:cubicBezTo>
                  <a:pt x="5557400" y="0"/>
                  <a:pt x="5588729" y="31329"/>
                  <a:pt x="5588729" y="69975"/>
                </a:cubicBezTo>
                <a:lnTo>
                  <a:pt x="5588729" y="1827918"/>
                </a:lnTo>
                <a:cubicBezTo>
                  <a:pt x="5588729" y="1866565"/>
                  <a:pt x="5557400" y="1897894"/>
                  <a:pt x="5518753" y="1897894"/>
                </a:cubicBezTo>
                <a:lnTo>
                  <a:pt x="0" y="1897894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14902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52445" y="3979455"/>
            <a:ext cx="34984" cy="1897894"/>
          </a:xfrm>
          <a:custGeom>
            <a:avLst/>
            <a:gdLst/>
            <a:ahLst/>
            <a:cxnLst/>
            <a:rect l="l" t="t" r="r" b="b"/>
            <a:pathLst>
              <a:path w="34984" h="1897894">
                <a:moveTo>
                  <a:pt x="0" y="0"/>
                </a:moveTo>
                <a:lnTo>
                  <a:pt x="34984" y="0"/>
                </a:lnTo>
                <a:lnTo>
                  <a:pt x="34984" y="1897894"/>
                </a:lnTo>
                <a:lnTo>
                  <a:pt x="0" y="1897894"/>
                </a:lnTo>
                <a:lnTo>
                  <a:pt x="0" y="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49811" y="4259329"/>
            <a:ext cx="559747" cy="559747"/>
          </a:xfrm>
          <a:custGeom>
            <a:avLst/>
            <a:gdLst/>
            <a:ahLst/>
            <a:cxnLst/>
            <a:rect l="l" t="t" r="r" b="b"/>
            <a:pathLst>
              <a:path w="559747" h="559747">
                <a:moveTo>
                  <a:pt x="279874" y="0"/>
                </a:moveTo>
                <a:lnTo>
                  <a:pt x="279874" y="0"/>
                </a:lnTo>
                <a:cubicBezTo>
                  <a:pt x="434340" y="0"/>
                  <a:pt x="559747" y="125407"/>
                  <a:pt x="559747" y="279874"/>
                </a:cubicBezTo>
                <a:lnTo>
                  <a:pt x="559747" y="279874"/>
                </a:lnTo>
                <a:cubicBezTo>
                  <a:pt x="559747" y="434340"/>
                  <a:pt x="434340" y="559747"/>
                  <a:pt x="279874" y="559747"/>
                </a:cubicBezTo>
                <a:lnTo>
                  <a:pt x="279874" y="559747"/>
                </a:lnTo>
                <a:cubicBezTo>
                  <a:pt x="125407" y="559747"/>
                  <a:pt x="0" y="434340"/>
                  <a:pt x="0" y="279874"/>
                </a:cubicBezTo>
                <a:lnTo>
                  <a:pt x="0" y="279874"/>
                </a:lnTo>
                <a:cubicBezTo>
                  <a:pt x="0" y="125407"/>
                  <a:pt x="125407" y="0"/>
                  <a:pt x="279874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216" y="4259329"/>
            <a:ext cx="690938" cy="55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6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84480" y="4381773"/>
            <a:ext cx="2571340" cy="314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6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Company Landscape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49811" y="5028981"/>
            <a:ext cx="5098950" cy="568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7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distribution analysis across company revenue tiers and organizational characteristics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3341" y="6160721"/>
            <a:ext cx="11481820" cy="689189"/>
          </a:xfrm>
          <a:custGeom>
            <a:avLst/>
            <a:gdLst/>
            <a:ahLst/>
            <a:cxnLst/>
            <a:rect l="l" t="t" r="r" b="b"/>
            <a:pathLst>
              <a:path w="11481820" h="689189">
                <a:moveTo>
                  <a:pt x="69966" y="0"/>
                </a:moveTo>
                <a:lnTo>
                  <a:pt x="11411854" y="0"/>
                </a:lnTo>
                <a:cubicBezTo>
                  <a:pt x="11450495" y="0"/>
                  <a:pt x="11481820" y="31325"/>
                  <a:pt x="11481820" y="69966"/>
                </a:cubicBezTo>
                <a:lnTo>
                  <a:pt x="11481820" y="619223"/>
                </a:lnTo>
                <a:cubicBezTo>
                  <a:pt x="11481820" y="657864"/>
                  <a:pt x="11450495" y="689189"/>
                  <a:pt x="11411854" y="689189"/>
                </a:cubicBezTo>
                <a:lnTo>
                  <a:pt x="69966" y="689189"/>
                </a:lnTo>
                <a:cubicBezTo>
                  <a:pt x="31325" y="689189"/>
                  <a:pt x="0" y="657864"/>
                  <a:pt x="0" y="619223"/>
                </a:cubicBezTo>
                <a:lnTo>
                  <a:pt x="0" y="69966"/>
                </a:lnTo>
                <a:cubicBezTo>
                  <a:pt x="0" y="31351"/>
                  <a:pt x="31351" y="0"/>
                  <a:pt x="69966" y="0"/>
                </a:cubicBezTo>
                <a:close/>
              </a:path>
            </a:pathLst>
          </a:custGeom>
          <a:solidFill>
            <a:srgbClr val="D85D3C">
              <a:alpha val="10196"/>
            </a:srgbClr>
          </a:solidFill>
          <a:ln w="10160">
            <a:solidFill>
              <a:srgbClr val="D85D3C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26" y="6374125"/>
            <a:ext cx="196786" cy="262382"/>
          </a:xfrm>
          <a:custGeom>
            <a:avLst/>
            <a:gdLst/>
            <a:ahLst/>
            <a:cxnLst/>
            <a:rect l="l" t="t" r="r" b="b"/>
            <a:pathLst>
              <a:path w="196786" h="262382">
                <a:moveTo>
                  <a:pt x="150101" y="196786"/>
                </a:moveTo>
                <a:cubicBezTo>
                  <a:pt x="153842" y="185358"/>
                  <a:pt x="161324" y="175007"/>
                  <a:pt x="169779" y="166090"/>
                </a:cubicBezTo>
                <a:cubicBezTo>
                  <a:pt x="186537" y="148461"/>
                  <a:pt x="196786" y="124631"/>
                  <a:pt x="196786" y="98393"/>
                </a:cubicBezTo>
                <a:cubicBezTo>
                  <a:pt x="196786" y="44072"/>
                  <a:pt x="152714" y="0"/>
                  <a:pt x="98393" y="0"/>
                </a:cubicBezTo>
                <a:cubicBezTo>
                  <a:pt x="44072" y="0"/>
                  <a:pt x="0" y="44072"/>
                  <a:pt x="0" y="98393"/>
                </a:cubicBezTo>
                <a:cubicBezTo>
                  <a:pt x="0" y="124631"/>
                  <a:pt x="10249" y="148461"/>
                  <a:pt x="27007" y="166090"/>
                </a:cubicBezTo>
                <a:cubicBezTo>
                  <a:pt x="35463" y="175007"/>
                  <a:pt x="42996" y="185358"/>
                  <a:pt x="46685" y="196786"/>
                </a:cubicBezTo>
                <a:lnTo>
                  <a:pt x="150049" y="196786"/>
                </a:lnTo>
                <a:close/>
                <a:moveTo>
                  <a:pt x="147590" y="221385"/>
                </a:moveTo>
                <a:lnTo>
                  <a:pt x="49197" y="221385"/>
                </a:lnTo>
                <a:lnTo>
                  <a:pt x="49197" y="229584"/>
                </a:lnTo>
                <a:cubicBezTo>
                  <a:pt x="49197" y="252235"/>
                  <a:pt x="67543" y="270581"/>
                  <a:pt x="90194" y="270581"/>
                </a:cubicBezTo>
                <a:lnTo>
                  <a:pt x="106593" y="270581"/>
                </a:lnTo>
                <a:cubicBezTo>
                  <a:pt x="129243" y="270581"/>
                  <a:pt x="147590" y="252235"/>
                  <a:pt x="147590" y="229584"/>
                </a:cubicBezTo>
                <a:lnTo>
                  <a:pt x="147590" y="221385"/>
                </a:lnTo>
                <a:close/>
                <a:moveTo>
                  <a:pt x="94293" y="57396"/>
                </a:moveTo>
                <a:cubicBezTo>
                  <a:pt x="73897" y="57396"/>
                  <a:pt x="57396" y="73897"/>
                  <a:pt x="57396" y="94293"/>
                </a:cubicBezTo>
                <a:cubicBezTo>
                  <a:pt x="57396" y="101109"/>
                  <a:pt x="51913" y="106593"/>
                  <a:pt x="45097" y="106593"/>
                </a:cubicBezTo>
                <a:cubicBezTo>
                  <a:pt x="38281" y="106593"/>
                  <a:pt x="32798" y="101109"/>
                  <a:pt x="32798" y="94293"/>
                </a:cubicBezTo>
                <a:cubicBezTo>
                  <a:pt x="32798" y="60317"/>
                  <a:pt x="60317" y="32798"/>
                  <a:pt x="94293" y="32798"/>
                </a:cubicBezTo>
                <a:cubicBezTo>
                  <a:pt x="101109" y="32798"/>
                  <a:pt x="106593" y="38281"/>
                  <a:pt x="106593" y="45097"/>
                </a:cubicBezTo>
                <a:cubicBezTo>
                  <a:pt x="106593" y="51913"/>
                  <a:pt x="101109" y="57396"/>
                  <a:pt x="94293" y="57396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31" name="Text 29"/>
          <p:cNvSpPr/>
          <p:nvPr/>
        </p:nvSpPr>
        <p:spPr>
          <a:xfrm>
            <a:off x="1069642" y="6382871"/>
            <a:ext cx="8072608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7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Focus:</a:t>
            </a:r>
            <a:pPr>
              <a:lnSpc>
                <a:spcPct val="120000"/>
              </a:lnSpc>
            </a:pPr>
            <a:r>
              <a:rPr lang="en-US" sz="1377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Data-driven insights for career planning, hiring strategies, and skill development decisions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 at a Glance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573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snapshot of the US data role job market in 2024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" y="1760220"/>
            <a:ext cx="3663315" cy="1577340"/>
          </a:xfrm>
          <a:custGeom>
            <a:avLst/>
            <a:gdLst/>
            <a:ahLst/>
            <a:cxnLst/>
            <a:rect l="l" t="t" r="r" b="b"/>
            <a:pathLst>
              <a:path w="3663315" h="1577340">
                <a:moveTo>
                  <a:pt x="114294" y="0"/>
                </a:moveTo>
                <a:lnTo>
                  <a:pt x="3549021" y="0"/>
                </a:lnTo>
                <a:cubicBezTo>
                  <a:pt x="3612144" y="0"/>
                  <a:pt x="3663315" y="51171"/>
                  <a:pt x="3663315" y="114294"/>
                </a:cubicBezTo>
                <a:lnTo>
                  <a:pt x="3663315" y="1463046"/>
                </a:lnTo>
                <a:cubicBezTo>
                  <a:pt x="3663315" y="1526169"/>
                  <a:pt x="3612144" y="1577340"/>
                  <a:pt x="3549021" y="1577340"/>
                </a:cubicBezTo>
                <a:lnTo>
                  <a:pt x="114294" y="1577340"/>
                </a:lnTo>
                <a:cubicBezTo>
                  <a:pt x="51171" y="1577340"/>
                  <a:pt x="0" y="1526169"/>
                  <a:pt x="0" y="146304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865" y="1958340"/>
            <a:ext cx="3552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85D3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742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3878" y="260604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Jobs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91084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Active opportunities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2080" y="1760220"/>
            <a:ext cx="3663315" cy="1577340"/>
          </a:xfrm>
          <a:custGeom>
            <a:avLst/>
            <a:gdLst/>
            <a:ahLst/>
            <a:cxnLst/>
            <a:rect l="l" t="t" r="r" b="b"/>
            <a:pathLst>
              <a:path w="3663315" h="1577340">
                <a:moveTo>
                  <a:pt x="114294" y="0"/>
                </a:moveTo>
                <a:lnTo>
                  <a:pt x="3549021" y="0"/>
                </a:lnTo>
                <a:cubicBezTo>
                  <a:pt x="3612144" y="0"/>
                  <a:pt x="3663315" y="51171"/>
                  <a:pt x="3663315" y="114294"/>
                </a:cubicBezTo>
                <a:lnTo>
                  <a:pt x="3663315" y="1463046"/>
                </a:lnTo>
                <a:cubicBezTo>
                  <a:pt x="3663315" y="1526169"/>
                  <a:pt x="3612144" y="1577340"/>
                  <a:pt x="3549021" y="1577340"/>
                </a:cubicBezTo>
                <a:lnTo>
                  <a:pt x="114294" y="1577340"/>
                </a:lnTo>
                <a:cubicBezTo>
                  <a:pt x="51171" y="1577340"/>
                  <a:pt x="0" y="1526169"/>
                  <a:pt x="0" y="146304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7325" y="1958340"/>
            <a:ext cx="3552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85D3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343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17338" y="260604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Hiring Companies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22100" y="291084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 recruiting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5541" y="1760220"/>
            <a:ext cx="3663315" cy="1577340"/>
          </a:xfrm>
          <a:custGeom>
            <a:avLst/>
            <a:gdLst/>
            <a:ahLst/>
            <a:cxnLst/>
            <a:rect l="l" t="t" r="r" b="b"/>
            <a:pathLst>
              <a:path w="3663315" h="1577340">
                <a:moveTo>
                  <a:pt x="114294" y="0"/>
                </a:moveTo>
                <a:lnTo>
                  <a:pt x="3549021" y="0"/>
                </a:lnTo>
                <a:cubicBezTo>
                  <a:pt x="3612144" y="0"/>
                  <a:pt x="3663315" y="51171"/>
                  <a:pt x="3663315" y="114294"/>
                </a:cubicBezTo>
                <a:lnTo>
                  <a:pt x="3663315" y="1463046"/>
                </a:lnTo>
                <a:cubicBezTo>
                  <a:pt x="3663315" y="1526169"/>
                  <a:pt x="3612144" y="1577340"/>
                  <a:pt x="3549021" y="1577340"/>
                </a:cubicBezTo>
                <a:lnTo>
                  <a:pt x="114294" y="1577340"/>
                </a:lnTo>
                <a:cubicBezTo>
                  <a:pt x="51171" y="1577340"/>
                  <a:pt x="0" y="1526169"/>
                  <a:pt x="0" y="1463046"/>
                </a:cubicBezTo>
                <a:lnTo>
                  <a:pt x="0" y="114294"/>
                </a:lnTo>
                <a:cubicBezTo>
                  <a:pt x="0" y="51213"/>
                  <a:pt x="51213" y="0"/>
                  <a:pt x="114294" y="0"/>
                </a:cubicBezTo>
                <a:close/>
              </a:path>
            </a:pathLst>
          </a:custGeom>
          <a:solidFill>
            <a:srgbClr val="3A5F7A">
              <a:alpha val="20000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0786" y="1958340"/>
            <a:ext cx="3552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85D3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464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90798" y="260604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Distinct Job Titles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95561" y="291084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 variations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8620" y="3543301"/>
            <a:ext cx="3663315" cy="1958340"/>
          </a:xfrm>
          <a:custGeom>
            <a:avLst/>
            <a:gdLst/>
            <a:ahLst/>
            <a:cxnLst/>
            <a:rect l="l" t="t" r="r" b="b"/>
            <a:pathLst>
              <a:path w="3663315" h="1958340">
                <a:moveTo>
                  <a:pt x="114308" y="0"/>
                </a:moveTo>
                <a:lnTo>
                  <a:pt x="3549007" y="0"/>
                </a:lnTo>
                <a:cubicBezTo>
                  <a:pt x="3612137" y="0"/>
                  <a:pt x="3663315" y="51178"/>
                  <a:pt x="3663315" y="114308"/>
                </a:cubicBezTo>
                <a:lnTo>
                  <a:pt x="3663315" y="1844032"/>
                </a:lnTo>
                <a:cubicBezTo>
                  <a:pt x="3663315" y="1907162"/>
                  <a:pt x="3612137" y="1958340"/>
                  <a:pt x="3549007" y="1958340"/>
                </a:cubicBezTo>
                <a:lnTo>
                  <a:pt x="114308" y="1958340"/>
                </a:lnTo>
                <a:cubicBezTo>
                  <a:pt x="51178" y="1958340"/>
                  <a:pt x="0" y="1907162"/>
                  <a:pt x="0" y="1844032"/>
                </a:cubicBezTo>
                <a:lnTo>
                  <a:pt x="0" y="114308"/>
                </a:lnTo>
                <a:cubicBezTo>
                  <a:pt x="0" y="51178"/>
                  <a:pt x="51178" y="0"/>
                  <a:pt x="114308" y="0"/>
                </a:cubicBezTo>
                <a:close/>
              </a:path>
            </a:pathLst>
          </a:custGeom>
          <a:solidFill>
            <a:srgbClr val="D85D3C">
              <a:alpha val="20000"/>
            </a:srgbClr>
          </a:solidFill>
          <a:ln w="20320">
            <a:solidFill>
              <a:srgbClr val="D85D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440" y="3989070"/>
            <a:ext cx="3495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$101.48K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3878" y="452247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Salary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82727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benchmark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62080" y="3543301"/>
            <a:ext cx="3663315" cy="1958340"/>
          </a:xfrm>
          <a:custGeom>
            <a:avLst/>
            <a:gdLst/>
            <a:ahLst/>
            <a:cxnLst/>
            <a:rect l="l" t="t" r="r" b="b"/>
            <a:pathLst>
              <a:path w="3663315" h="1958340">
                <a:moveTo>
                  <a:pt x="114308" y="0"/>
                </a:moveTo>
                <a:lnTo>
                  <a:pt x="3549007" y="0"/>
                </a:lnTo>
                <a:cubicBezTo>
                  <a:pt x="3612137" y="0"/>
                  <a:pt x="3663315" y="51178"/>
                  <a:pt x="3663315" y="114308"/>
                </a:cubicBezTo>
                <a:lnTo>
                  <a:pt x="3663315" y="1844032"/>
                </a:lnTo>
                <a:cubicBezTo>
                  <a:pt x="3663315" y="1907162"/>
                  <a:pt x="3612137" y="1958340"/>
                  <a:pt x="3549007" y="1958340"/>
                </a:cubicBezTo>
                <a:lnTo>
                  <a:pt x="114308" y="1958340"/>
                </a:lnTo>
                <a:cubicBezTo>
                  <a:pt x="51178" y="1958340"/>
                  <a:pt x="0" y="1907162"/>
                  <a:pt x="0" y="1844032"/>
                </a:cubicBezTo>
                <a:lnTo>
                  <a:pt x="0" y="114308"/>
                </a:lnTo>
                <a:cubicBezTo>
                  <a:pt x="0" y="51178"/>
                  <a:pt x="51178" y="0"/>
                  <a:pt x="114308" y="0"/>
                </a:cubicBezTo>
                <a:close/>
              </a:path>
            </a:pathLst>
          </a:custGeom>
          <a:solidFill>
            <a:srgbClr val="6B7A8F">
              <a:alpha val="20000"/>
            </a:srgbClr>
          </a:solidFill>
          <a:ln w="20320">
            <a:solidFill>
              <a:srgbClr val="6B7A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5900" y="3989070"/>
            <a:ext cx="3495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$254.00K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17338" y="452247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Salary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22100" y="482727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compensation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5541" y="3543301"/>
            <a:ext cx="3663315" cy="1958340"/>
          </a:xfrm>
          <a:custGeom>
            <a:avLst/>
            <a:gdLst/>
            <a:ahLst/>
            <a:cxnLst/>
            <a:rect l="l" t="t" r="r" b="b"/>
            <a:pathLst>
              <a:path w="3663315" h="1958340">
                <a:moveTo>
                  <a:pt x="114308" y="0"/>
                </a:moveTo>
                <a:lnTo>
                  <a:pt x="3549007" y="0"/>
                </a:lnTo>
                <a:cubicBezTo>
                  <a:pt x="3612137" y="0"/>
                  <a:pt x="3663315" y="51178"/>
                  <a:pt x="3663315" y="114308"/>
                </a:cubicBezTo>
                <a:lnTo>
                  <a:pt x="3663315" y="1844032"/>
                </a:lnTo>
                <a:cubicBezTo>
                  <a:pt x="3663315" y="1907162"/>
                  <a:pt x="3612137" y="1958340"/>
                  <a:pt x="3549007" y="1958340"/>
                </a:cubicBezTo>
                <a:lnTo>
                  <a:pt x="114308" y="1958340"/>
                </a:lnTo>
                <a:cubicBezTo>
                  <a:pt x="51178" y="1958340"/>
                  <a:pt x="0" y="1907162"/>
                  <a:pt x="0" y="1844032"/>
                </a:cubicBezTo>
                <a:lnTo>
                  <a:pt x="0" y="114308"/>
                </a:lnTo>
                <a:cubicBezTo>
                  <a:pt x="0" y="51178"/>
                  <a:pt x="51178" y="0"/>
                  <a:pt x="114308" y="0"/>
                </a:cubicBezTo>
                <a:close/>
              </a:path>
            </a:pathLst>
          </a:custGeom>
          <a:solidFill>
            <a:srgbClr val="6B7A8F">
              <a:alpha val="20000"/>
            </a:srgbClr>
          </a:solidFill>
          <a:ln w="20320">
            <a:solidFill>
              <a:srgbClr val="6B7A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9361" y="3989070"/>
            <a:ext cx="3495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$15.50K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90798" y="452247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Salary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95561" y="4827270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Entry-level range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5703571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76200" y="0"/>
                </a:moveTo>
                <a:lnTo>
                  <a:pt x="11342370" y="0"/>
                </a:lnTo>
                <a:cubicBezTo>
                  <a:pt x="11384454" y="0"/>
                  <a:pt x="11418570" y="34116"/>
                  <a:pt x="11418570" y="76200"/>
                </a:cubicBezTo>
                <a:lnTo>
                  <a:pt x="11418570" y="693420"/>
                </a:lnTo>
                <a:cubicBezTo>
                  <a:pt x="11418570" y="735504"/>
                  <a:pt x="11384454" y="769620"/>
                  <a:pt x="11342370" y="769620"/>
                </a:cubicBezTo>
                <a:lnTo>
                  <a:pt x="76200" y="769620"/>
                </a:lnTo>
                <a:cubicBezTo>
                  <a:pt x="34116" y="769620"/>
                  <a:pt x="0" y="735504"/>
                  <a:pt x="0" y="69342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5782" y="59740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31" name="Text 29"/>
          <p:cNvSpPr/>
          <p:nvPr/>
        </p:nvSpPr>
        <p:spPr>
          <a:xfrm>
            <a:off x="931664" y="5859780"/>
            <a:ext cx="1079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Scope: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Analysis covers data roles across all industries in the United States for 2024, including Data Scientists, Data Analysts, Data Engineers, Machine Learning Engineers, and related positions.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2.ftcdn.net/809bcb82aee3a457a4cc2c4d9995403a61217e62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9591" b="95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261820"/>
            <a:ext cx="1922145" cy="541020"/>
          </a:xfrm>
          <a:custGeom>
            <a:avLst/>
            <a:gdLst/>
            <a:ahLst/>
            <a:cxnLst/>
            <a:rect l="l" t="t" r="r" b="b"/>
            <a:pathLst>
              <a:path w="1922145" h="541020">
                <a:moveTo>
                  <a:pt x="270510" y="0"/>
                </a:moveTo>
                <a:lnTo>
                  <a:pt x="1651635" y="0"/>
                </a:lnTo>
                <a:cubicBezTo>
                  <a:pt x="1801034" y="0"/>
                  <a:pt x="1922145" y="121111"/>
                  <a:pt x="1922145" y="270510"/>
                </a:cubicBezTo>
                <a:lnTo>
                  <a:pt x="1922145" y="270510"/>
                </a:lnTo>
                <a:cubicBezTo>
                  <a:pt x="1922145" y="419909"/>
                  <a:pt x="1801034" y="541020"/>
                  <a:pt x="1651635" y="541020"/>
                </a:cubicBezTo>
                <a:lnTo>
                  <a:pt x="270510" y="541020"/>
                </a:lnTo>
                <a:cubicBezTo>
                  <a:pt x="121211" y="541020"/>
                  <a:pt x="0" y="419809"/>
                  <a:pt x="0" y="270510"/>
                </a:cubicBezTo>
                <a:lnTo>
                  <a:pt x="0" y="270510"/>
                </a:lnTo>
                <a:cubicBezTo>
                  <a:pt x="0" y="121211"/>
                  <a:pt x="121211" y="0"/>
                  <a:pt x="270510" y="0"/>
                </a:cubicBezTo>
                <a:close/>
              </a:path>
            </a:pathLst>
          </a:custGeom>
          <a:solidFill>
            <a:srgbClr val="D85D3C">
              <a:alpha val="20000"/>
            </a:srgbClr>
          </a:solidFill>
          <a:ln w="10160">
            <a:solidFill>
              <a:srgbClr val="D85D3C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7220" y="402789"/>
            <a:ext cx="1572339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180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1133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Salary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702130"/>
            <a:ext cx="1828800" cy="57150"/>
          </a:xfrm>
          <a:custGeom>
            <a:avLst/>
            <a:gdLst/>
            <a:ahLst/>
            <a:cxnLst/>
            <a:rect l="l" t="t" r="r" b="b"/>
            <a:pathLst>
              <a:path w="1828800" h="57150">
                <a:moveTo>
                  <a:pt x="0" y="0"/>
                </a:moveTo>
                <a:lnTo>
                  <a:pt x="1828800" y="0"/>
                </a:lnTo>
                <a:lnTo>
                  <a:pt x="1828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140280"/>
            <a:ext cx="7458075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dive into compensation patterns across data roles, revealing salary hierarchies, range distributions, and high-paying opportunities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8620" y="5998131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5">
                <a:moveTo>
                  <a:pt x="298133" y="0"/>
                </a:moveTo>
                <a:lnTo>
                  <a:pt x="298132" y="0"/>
                </a:lnTo>
                <a:cubicBezTo>
                  <a:pt x="462787" y="0"/>
                  <a:pt x="596265" y="133478"/>
                  <a:pt x="596265" y="298133"/>
                </a:cubicBezTo>
                <a:lnTo>
                  <a:pt x="596265" y="298132"/>
                </a:lnTo>
                <a:cubicBezTo>
                  <a:pt x="596265" y="462787"/>
                  <a:pt x="462787" y="596265"/>
                  <a:pt x="298132" y="596265"/>
                </a:cubicBezTo>
                <a:lnTo>
                  <a:pt x="298133" y="596265"/>
                </a:lnTo>
                <a:cubicBezTo>
                  <a:pt x="133478" y="596265"/>
                  <a:pt x="0" y="462787"/>
                  <a:pt x="0" y="298132"/>
                </a:cubicBezTo>
                <a:lnTo>
                  <a:pt x="0" y="298133"/>
                </a:lnTo>
                <a:cubicBezTo>
                  <a:pt x="0" y="133478"/>
                  <a:pt x="133478" y="0"/>
                  <a:pt x="29813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4363" y="6181011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990511"/>
            <a:ext cx="1266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$101.48K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6333411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Salary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83299" y="5998131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5">
                <a:moveTo>
                  <a:pt x="298133" y="0"/>
                </a:moveTo>
                <a:lnTo>
                  <a:pt x="298132" y="0"/>
                </a:lnTo>
                <a:cubicBezTo>
                  <a:pt x="462787" y="0"/>
                  <a:pt x="596265" y="133478"/>
                  <a:pt x="596265" y="298133"/>
                </a:cubicBezTo>
                <a:lnTo>
                  <a:pt x="596265" y="298132"/>
                </a:lnTo>
                <a:cubicBezTo>
                  <a:pt x="596265" y="462787"/>
                  <a:pt x="462787" y="596265"/>
                  <a:pt x="298132" y="596265"/>
                </a:cubicBezTo>
                <a:lnTo>
                  <a:pt x="298133" y="596265"/>
                </a:lnTo>
                <a:cubicBezTo>
                  <a:pt x="133478" y="596265"/>
                  <a:pt x="0" y="462787"/>
                  <a:pt x="0" y="298132"/>
                </a:cubicBezTo>
                <a:lnTo>
                  <a:pt x="0" y="298133"/>
                </a:lnTo>
                <a:cubicBezTo>
                  <a:pt x="0" y="133478"/>
                  <a:pt x="133478" y="0"/>
                  <a:pt x="29813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66179" y="618101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679" y="5990511"/>
            <a:ext cx="1181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$238.5K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37679" y="6333411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Salary Range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550785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spc="56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Compensation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641215"/>
            <a:ext cx="11693277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6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Average Salary by Role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6231" y="1175562"/>
            <a:ext cx="1156859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and specialized roles command premium compensation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231" y="1638662"/>
            <a:ext cx="6928690" cy="5218782"/>
          </a:xfrm>
          <a:custGeom>
            <a:avLst/>
            <a:gdLst/>
            <a:ahLst/>
            <a:cxnLst/>
            <a:rect l="l" t="t" r="r" b="b"/>
            <a:pathLst>
              <a:path w="6928690" h="5218782">
                <a:moveTo>
                  <a:pt x="106881" y="0"/>
                </a:moveTo>
                <a:lnTo>
                  <a:pt x="6821809" y="0"/>
                </a:lnTo>
                <a:cubicBezTo>
                  <a:pt x="6880798" y="0"/>
                  <a:pt x="6928690" y="47892"/>
                  <a:pt x="6928690" y="106881"/>
                </a:cubicBezTo>
                <a:lnTo>
                  <a:pt x="6928690" y="5111901"/>
                </a:lnTo>
                <a:cubicBezTo>
                  <a:pt x="6928690" y="5170890"/>
                  <a:pt x="6880798" y="5218782"/>
                  <a:pt x="6821809" y="5218782"/>
                </a:cubicBezTo>
                <a:lnTo>
                  <a:pt x="106881" y="5218782"/>
                </a:lnTo>
                <a:cubicBezTo>
                  <a:pt x="47892" y="5218782"/>
                  <a:pt x="0" y="5170890"/>
                  <a:pt x="0" y="5111901"/>
                </a:cubicBezTo>
                <a:lnTo>
                  <a:pt x="0" y="106881"/>
                </a:lnTo>
                <a:cubicBezTo>
                  <a:pt x="0" y="47892"/>
                  <a:pt x="47892" y="0"/>
                  <a:pt x="106881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pic>
        <p:nvPicPr>
          <p:cNvPr id="6" name="Image 0" descr="https://kimi-img.moonshot.cn/pub/slides/26-03-12-15:07:14-d6p6c8l96bkde76qge2g.png">    </p:cNvPr>
          <p:cNvPicPr>
            <a:picLocks noChangeAspect="1"/>
          </p:cNvPicPr>
          <p:nvPr/>
        </p:nvPicPr>
        <p:blipFill>
          <a:blip r:embed="rId1"/>
          <a:srcRect l="22" r="22" t="0" b="0"/>
          <a:stretch/>
        </p:blipFill>
        <p:spPr>
          <a:xfrm>
            <a:off x="569969" y="1852400"/>
            <a:ext cx="6029207" cy="4791305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517695" y="1638662"/>
            <a:ext cx="4319299" cy="1798966"/>
          </a:xfrm>
          <a:custGeom>
            <a:avLst/>
            <a:gdLst/>
            <a:ahLst/>
            <a:cxnLst/>
            <a:rect l="l" t="t" r="r" b="b"/>
            <a:pathLst>
              <a:path w="4319299" h="1798966">
                <a:moveTo>
                  <a:pt x="0" y="0"/>
                </a:moveTo>
                <a:lnTo>
                  <a:pt x="4248060" y="0"/>
                </a:lnTo>
                <a:cubicBezTo>
                  <a:pt x="4287404" y="0"/>
                  <a:pt x="4319299" y="31895"/>
                  <a:pt x="4319299" y="71239"/>
                </a:cubicBezTo>
                <a:lnTo>
                  <a:pt x="4319299" y="1727727"/>
                </a:lnTo>
                <a:cubicBezTo>
                  <a:pt x="4319299" y="1767071"/>
                  <a:pt x="4287404" y="1798966"/>
                  <a:pt x="4248060" y="1798966"/>
                </a:cubicBezTo>
                <a:lnTo>
                  <a:pt x="0" y="1798966"/>
                </a:lnTo>
                <a:lnTo>
                  <a:pt x="0" y="0"/>
                </a:lnTo>
                <a:close/>
              </a:path>
            </a:pathLst>
          </a:custGeom>
          <a:solidFill>
            <a:srgbClr val="D85D3C">
              <a:alpha val="2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517695" y="1638662"/>
            <a:ext cx="35623" cy="1798966"/>
          </a:xfrm>
          <a:custGeom>
            <a:avLst/>
            <a:gdLst/>
            <a:ahLst/>
            <a:cxnLst/>
            <a:rect l="l" t="t" r="r" b="b"/>
            <a:pathLst>
              <a:path w="35623" h="1798966">
                <a:moveTo>
                  <a:pt x="0" y="0"/>
                </a:moveTo>
                <a:lnTo>
                  <a:pt x="35623" y="0"/>
                </a:lnTo>
                <a:lnTo>
                  <a:pt x="35623" y="1798966"/>
                </a:lnTo>
                <a:lnTo>
                  <a:pt x="0" y="1798966"/>
                </a:lnTo>
                <a:lnTo>
                  <a:pt x="0" y="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9" name="Shape 6"/>
          <p:cNvSpPr/>
          <p:nvPr/>
        </p:nvSpPr>
        <p:spPr>
          <a:xfrm>
            <a:off x="7713622" y="1816777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249362" y="0"/>
                </a:moveTo>
                <a:lnTo>
                  <a:pt x="249362" y="0"/>
                </a:lnTo>
                <a:cubicBezTo>
                  <a:pt x="387080" y="0"/>
                  <a:pt x="498723" y="111643"/>
                  <a:pt x="498723" y="249362"/>
                </a:cubicBezTo>
                <a:lnTo>
                  <a:pt x="498723" y="249362"/>
                </a:lnTo>
                <a:cubicBezTo>
                  <a:pt x="498723" y="387080"/>
                  <a:pt x="387080" y="498723"/>
                  <a:pt x="249362" y="498723"/>
                </a:cubicBezTo>
                <a:lnTo>
                  <a:pt x="249362" y="498723"/>
                </a:lnTo>
                <a:cubicBezTo>
                  <a:pt x="111643" y="498723"/>
                  <a:pt x="0" y="387080"/>
                  <a:pt x="0" y="249362"/>
                </a:cubicBezTo>
                <a:lnTo>
                  <a:pt x="0" y="249362"/>
                </a:lnTo>
                <a:cubicBezTo>
                  <a:pt x="0" y="111643"/>
                  <a:pt x="111643" y="0"/>
                  <a:pt x="249362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0" name="Text 7"/>
          <p:cNvSpPr/>
          <p:nvPr/>
        </p:nvSpPr>
        <p:spPr>
          <a:xfrm>
            <a:off x="7660187" y="1816777"/>
            <a:ext cx="605592" cy="498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54838" y="1816777"/>
            <a:ext cx="1656473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 Data Science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54838" y="2137274"/>
            <a:ext cx="1683191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D85D3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~$100K+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13622" y="2564751"/>
            <a:ext cx="4016503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leadership role commanding the highest compensation in the data field, reflecting strategic decision-making responsibilities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17695" y="3580009"/>
            <a:ext cx="4319299" cy="1567416"/>
          </a:xfrm>
          <a:custGeom>
            <a:avLst/>
            <a:gdLst/>
            <a:ahLst/>
            <a:cxnLst/>
            <a:rect l="l" t="t" r="r" b="b"/>
            <a:pathLst>
              <a:path w="4319299" h="1567416">
                <a:moveTo>
                  <a:pt x="0" y="0"/>
                </a:moveTo>
                <a:lnTo>
                  <a:pt x="4248060" y="0"/>
                </a:lnTo>
                <a:cubicBezTo>
                  <a:pt x="4287404" y="0"/>
                  <a:pt x="4319299" y="31895"/>
                  <a:pt x="4319299" y="71239"/>
                </a:cubicBezTo>
                <a:lnTo>
                  <a:pt x="4319299" y="1496177"/>
                </a:lnTo>
                <a:cubicBezTo>
                  <a:pt x="4319299" y="1535521"/>
                  <a:pt x="4287404" y="1567416"/>
                  <a:pt x="4248060" y="1567416"/>
                </a:cubicBezTo>
                <a:lnTo>
                  <a:pt x="0" y="1567416"/>
                </a:lnTo>
                <a:lnTo>
                  <a:pt x="0" y="0"/>
                </a:lnTo>
                <a:close/>
              </a:path>
            </a:pathLst>
          </a:custGeom>
          <a:solidFill>
            <a:srgbClr val="3A5F7A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7517695" y="3580009"/>
            <a:ext cx="35623" cy="1567416"/>
          </a:xfrm>
          <a:custGeom>
            <a:avLst/>
            <a:gdLst/>
            <a:ahLst/>
            <a:cxnLst/>
            <a:rect l="l" t="t" r="r" b="b"/>
            <a:pathLst>
              <a:path w="35623" h="1567416">
                <a:moveTo>
                  <a:pt x="0" y="0"/>
                </a:moveTo>
                <a:lnTo>
                  <a:pt x="35623" y="0"/>
                </a:lnTo>
                <a:lnTo>
                  <a:pt x="35623" y="1567416"/>
                </a:lnTo>
                <a:lnTo>
                  <a:pt x="0" y="1567416"/>
                </a:lnTo>
                <a:lnTo>
                  <a:pt x="0" y="0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6" name="Shape 13"/>
          <p:cNvSpPr/>
          <p:nvPr/>
        </p:nvSpPr>
        <p:spPr>
          <a:xfrm>
            <a:off x="7713622" y="3758124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249362" y="0"/>
                </a:moveTo>
                <a:lnTo>
                  <a:pt x="249362" y="0"/>
                </a:lnTo>
                <a:cubicBezTo>
                  <a:pt x="387080" y="0"/>
                  <a:pt x="498723" y="111643"/>
                  <a:pt x="498723" y="249362"/>
                </a:cubicBezTo>
                <a:lnTo>
                  <a:pt x="498723" y="249362"/>
                </a:lnTo>
                <a:cubicBezTo>
                  <a:pt x="498723" y="387080"/>
                  <a:pt x="387080" y="498723"/>
                  <a:pt x="249362" y="498723"/>
                </a:cubicBezTo>
                <a:lnTo>
                  <a:pt x="249362" y="498723"/>
                </a:lnTo>
                <a:cubicBezTo>
                  <a:pt x="111643" y="498723"/>
                  <a:pt x="0" y="387080"/>
                  <a:pt x="0" y="249362"/>
                </a:cubicBezTo>
                <a:lnTo>
                  <a:pt x="0" y="249362"/>
                </a:lnTo>
                <a:cubicBezTo>
                  <a:pt x="0" y="111643"/>
                  <a:pt x="111643" y="0"/>
                  <a:pt x="249362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7" name="Text 14"/>
          <p:cNvSpPr/>
          <p:nvPr/>
        </p:nvSpPr>
        <p:spPr>
          <a:xfrm>
            <a:off x="7660187" y="3758124"/>
            <a:ext cx="605592" cy="498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54838" y="3758124"/>
            <a:ext cx="1790060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Data Analyst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54838" y="4078621"/>
            <a:ext cx="1816777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~$90K+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13622" y="4506098"/>
            <a:ext cx="4016503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Specialized analytics role focused on web metrics and digital performance optimization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17695" y="5289917"/>
            <a:ext cx="4319299" cy="1567416"/>
          </a:xfrm>
          <a:custGeom>
            <a:avLst/>
            <a:gdLst/>
            <a:ahLst/>
            <a:cxnLst/>
            <a:rect l="l" t="t" r="r" b="b"/>
            <a:pathLst>
              <a:path w="4319299" h="1567416">
                <a:moveTo>
                  <a:pt x="0" y="0"/>
                </a:moveTo>
                <a:lnTo>
                  <a:pt x="4248060" y="0"/>
                </a:lnTo>
                <a:cubicBezTo>
                  <a:pt x="4287404" y="0"/>
                  <a:pt x="4319299" y="31895"/>
                  <a:pt x="4319299" y="71239"/>
                </a:cubicBezTo>
                <a:lnTo>
                  <a:pt x="4319299" y="1496177"/>
                </a:lnTo>
                <a:cubicBezTo>
                  <a:pt x="4319299" y="1535521"/>
                  <a:pt x="4287404" y="1567416"/>
                  <a:pt x="4248060" y="1567416"/>
                </a:cubicBezTo>
                <a:lnTo>
                  <a:pt x="0" y="1567416"/>
                </a:lnTo>
                <a:lnTo>
                  <a:pt x="0" y="0"/>
                </a:lnTo>
                <a:close/>
              </a:path>
            </a:pathLst>
          </a:custGeom>
          <a:solidFill>
            <a:srgbClr val="6B7A8F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517695" y="5289917"/>
            <a:ext cx="35623" cy="1567416"/>
          </a:xfrm>
          <a:custGeom>
            <a:avLst/>
            <a:gdLst/>
            <a:ahLst/>
            <a:cxnLst/>
            <a:rect l="l" t="t" r="r" b="b"/>
            <a:pathLst>
              <a:path w="35623" h="1567416">
                <a:moveTo>
                  <a:pt x="0" y="0"/>
                </a:moveTo>
                <a:lnTo>
                  <a:pt x="35623" y="0"/>
                </a:lnTo>
                <a:lnTo>
                  <a:pt x="35623" y="1567416"/>
                </a:lnTo>
                <a:lnTo>
                  <a:pt x="0" y="1567416"/>
                </a:lnTo>
                <a:lnTo>
                  <a:pt x="0" y="0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3" name="Shape 20"/>
          <p:cNvSpPr/>
          <p:nvPr/>
        </p:nvSpPr>
        <p:spPr>
          <a:xfrm>
            <a:off x="7713622" y="5468032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249362" y="0"/>
                </a:moveTo>
                <a:lnTo>
                  <a:pt x="249362" y="0"/>
                </a:lnTo>
                <a:cubicBezTo>
                  <a:pt x="387080" y="0"/>
                  <a:pt x="498723" y="111643"/>
                  <a:pt x="498723" y="249362"/>
                </a:cubicBezTo>
                <a:lnTo>
                  <a:pt x="498723" y="249362"/>
                </a:lnTo>
                <a:cubicBezTo>
                  <a:pt x="498723" y="387080"/>
                  <a:pt x="387080" y="498723"/>
                  <a:pt x="249362" y="498723"/>
                </a:cubicBezTo>
                <a:lnTo>
                  <a:pt x="249362" y="498723"/>
                </a:lnTo>
                <a:cubicBezTo>
                  <a:pt x="111643" y="498723"/>
                  <a:pt x="0" y="387080"/>
                  <a:pt x="0" y="249362"/>
                </a:cubicBezTo>
                <a:lnTo>
                  <a:pt x="0" y="249362"/>
                </a:lnTo>
                <a:cubicBezTo>
                  <a:pt x="0" y="111643"/>
                  <a:pt x="111643" y="0"/>
                  <a:pt x="249362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4" name="Text 21"/>
          <p:cNvSpPr/>
          <p:nvPr/>
        </p:nvSpPr>
        <p:spPr>
          <a:xfrm>
            <a:off x="7660187" y="5468032"/>
            <a:ext cx="605592" cy="498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354838" y="5468032"/>
            <a:ext cx="1950364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Tech-Minded Roles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54838" y="5788529"/>
            <a:ext cx="1977081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~$80K+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713622" y="6216006"/>
            <a:ext cx="4016503" cy="46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positions requiring strong engineering and development skills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495" y="337495"/>
            <a:ext cx="11584509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b="1" spc="53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Compensation Variance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7495" y="607491"/>
            <a:ext cx="11719507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9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Salary Range Distribution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7495" y="1113733"/>
            <a:ext cx="11601384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spread between minimum and maximum compensation across role categories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7495" y="1484977"/>
            <a:ext cx="7500822" cy="5374605"/>
          </a:xfrm>
          <a:custGeom>
            <a:avLst/>
            <a:gdLst/>
            <a:ahLst/>
            <a:cxnLst/>
            <a:rect l="l" t="t" r="r" b="b"/>
            <a:pathLst>
              <a:path w="7500822" h="5374605">
                <a:moveTo>
                  <a:pt x="101258" y="0"/>
                </a:moveTo>
                <a:lnTo>
                  <a:pt x="7399565" y="0"/>
                </a:lnTo>
                <a:cubicBezTo>
                  <a:pt x="7455488" y="0"/>
                  <a:pt x="7500822" y="45335"/>
                  <a:pt x="7500822" y="101258"/>
                </a:cubicBezTo>
                <a:lnTo>
                  <a:pt x="7500822" y="5273347"/>
                </a:lnTo>
                <a:cubicBezTo>
                  <a:pt x="7500822" y="5329270"/>
                  <a:pt x="7455488" y="5374605"/>
                  <a:pt x="7399565" y="5374605"/>
                </a:cubicBezTo>
                <a:lnTo>
                  <a:pt x="101258" y="5374605"/>
                </a:lnTo>
                <a:cubicBezTo>
                  <a:pt x="45335" y="5374605"/>
                  <a:pt x="0" y="5329270"/>
                  <a:pt x="0" y="5273347"/>
                </a:cubicBezTo>
                <a:lnTo>
                  <a:pt x="0" y="101258"/>
                </a:lnTo>
                <a:cubicBezTo>
                  <a:pt x="0" y="45335"/>
                  <a:pt x="45335" y="0"/>
                  <a:pt x="10125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pic>
        <p:nvPicPr>
          <p:cNvPr id="6" name="Image 0" descr="https://kimi-img.moonshot.cn/pub/slides/26-03-12-15:07:14-d6p6c8nvg7eb36ujb7r0.png">    </p:cNvPr>
          <p:cNvPicPr>
            <a:picLocks noChangeAspect="1"/>
          </p:cNvPicPr>
          <p:nvPr/>
        </p:nvPicPr>
        <p:blipFill>
          <a:blip r:embed="rId1"/>
          <a:srcRect l="3" r="3" t="0" b="0"/>
          <a:stretch/>
        </p:blipFill>
        <p:spPr>
          <a:xfrm>
            <a:off x="539992" y="1687474"/>
            <a:ext cx="6184592" cy="4969611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8041341" y="1488352"/>
            <a:ext cx="3812004" cy="2352339"/>
          </a:xfrm>
          <a:custGeom>
            <a:avLst/>
            <a:gdLst/>
            <a:ahLst/>
            <a:cxnLst/>
            <a:rect l="l" t="t" r="r" b="b"/>
            <a:pathLst>
              <a:path w="3812004" h="2352339">
                <a:moveTo>
                  <a:pt x="67489" y="0"/>
                </a:moveTo>
                <a:lnTo>
                  <a:pt x="3744515" y="0"/>
                </a:lnTo>
                <a:cubicBezTo>
                  <a:pt x="3781788" y="0"/>
                  <a:pt x="3812004" y="30216"/>
                  <a:pt x="3812004" y="67489"/>
                </a:cubicBezTo>
                <a:lnTo>
                  <a:pt x="3812004" y="2284850"/>
                </a:lnTo>
                <a:cubicBezTo>
                  <a:pt x="3812004" y="2322123"/>
                  <a:pt x="3781788" y="2352339"/>
                  <a:pt x="3744515" y="2352339"/>
                </a:cubicBezTo>
                <a:lnTo>
                  <a:pt x="67489" y="2352339"/>
                </a:lnTo>
                <a:cubicBezTo>
                  <a:pt x="30216" y="2352339"/>
                  <a:pt x="0" y="2322123"/>
                  <a:pt x="0" y="2284850"/>
                </a:cubicBezTo>
                <a:lnTo>
                  <a:pt x="0" y="67489"/>
                </a:lnTo>
                <a:cubicBezTo>
                  <a:pt x="0" y="30216"/>
                  <a:pt x="30216" y="0"/>
                  <a:pt x="67489" y="0"/>
                </a:cubicBezTo>
                <a:close/>
              </a:path>
            </a:pathLst>
          </a:custGeom>
          <a:solidFill>
            <a:srgbClr val="D85D3C">
              <a:alpha val="14902"/>
            </a:srgbClr>
          </a:solidFill>
          <a:ln w="10160">
            <a:solidFill>
              <a:srgbClr val="D85D3C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00808" y="1660477"/>
            <a:ext cx="168747" cy="168747"/>
          </a:xfrm>
          <a:custGeom>
            <a:avLst/>
            <a:gdLst/>
            <a:ahLst/>
            <a:cxnLst/>
            <a:rect l="l" t="t" r="r" b="b"/>
            <a:pathLst>
              <a:path w="168747" h="168747">
                <a:moveTo>
                  <a:pt x="10547" y="10547"/>
                </a:moveTo>
                <a:cubicBezTo>
                  <a:pt x="16380" y="10547"/>
                  <a:pt x="21093" y="15260"/>
                  <a:pt x="21093" y="21093"/>
                </a:cubicBezTo>
                <a:lnTo>
                  <a:pt x="21093" y="131834"/>
                </a:lnTo>
                <a:cubicBezTo>
                  <a:pt x="21093" y="134734"/>
                  <a:pt x="23466" y="137107"/>
                  <a:pt x="26367" y="137107"/>
                </a:cubicBezTo>
                <a:lnTo>
                  <a:pt x="158201" y="137107"/>
                </a:lnTo>
                <a:cubicBezTo>
                  <a:pt x="164034" y="137107"/>
                  <a:pt x="168747" y="141820"/>
                  <a:pt x="168747" y="147654"/>
                </a:cubicBezTo>
                <a:cubicBezTo>
                  <a:pt x="168747" y="153488"/>
                  <a:pt x="164034" y="158201"/>
                  <a:pt x="158201" y="158201"/>
                </a:cubicBezTo>
                <a:lnTo>
                  <a:pt x="26367" y="158201"/>
                </a:lnTo>
                <a:cubicBezTo>
                  <a:pt x="11799" y="158201"/>
                  <a:pt x="0" y="146402"/>
                  <a:pt x="0" y="131834"/>
                </a:cubicBezTo>
                <a:lnTo>
                  <a:pt x="0" y="21093"/>
                </a:lnTo>
                <a:cubicBezTo>
                  <a:pt x="0" y="15260"/>
                  <a:pt x="4713" y="10547"/>
                  <a:pt x="10547" y="10547"/>
                </a:cubicBezTo>
                <a:close/>
                <a:moveTo>
                  <a:pt x="42187" y="31640"/>
                </a:moveTo>
                <a:cubicBezTo>
                  <a:pt x="42187" y="25806"/>
                  <a:pt x="46900" y="21093"/>
                  <a:pt x="52734" y="21093"/>
                </a:cubicBezTo>
                <a:lnTo>
                  <a:pt x="116014" y="21093"/>
                </a:lnTo>
                <a:cubicBezTo>
                  <a:pt x="121847" y="21093"/>
                  <a:pt x="126561" y="25806"/>
                  <a:pt x="126561" y="31640"/>
                </a:cubicBezTo>
                <a:cubicBezTo>
                  <a:pt x="126561" y="37474"/>
                  <a:pt x="121847" y="42187"/>
                  <a:pt x="116014" y="42187"/>
                </a:cubicBezTo>
                <a:lnTo>
                  <a:pt x="52734" y="42187"/>
                </a:lnTo>
                <a:cubicBezTo>
                  <a:pt x="46900" y="42187"/>
                  <a:pt x="42187" y="37474"/>
                  <a:pt x="42187" y="31640"/>
                </a:cubicBezTo>
                <a:close/>
                <a:moveTo>
                  <a:pt x="52734" y="58007"/>
                </a:moveTo>
                <a:lnTo>
                  <a:pt x="94920" y="58007"/>
                </a:lnTo>
                <a:cubicBezTo>
                  <a:pt x="100754" y="58007"/>
                  <a:pt x="105467" y="62720"/>
                  <a:pt x="105467" y="68554"/>
                </a:cubicBezTo>
                <a:cubicBezTo>
                  <a:pt x="105467" y="74387"/>
                  <a:pt x="100754" y="79100"/>
                  <a:pt x="94920" y="79100"/>
                </a:cubicBezTo>
                <a:lnTo>
                  <a:pt x="52734" y="79100"/>
                </a:lnTo>
                <a:cubicBezTo>
                  <a:pt x="46900" y="79100"/>
                  <a:pt x="42187" y="74387"/>
                  <a:pt x="42187" y="68554"/>
                </a:cubicBezTo>
                <a:cubicBezTo>
                  <a:pt x="42187" y="62720"/>
                  <a:pt x="46900" y="58007"/>
                  <a:pt x="52734" y="58007"/>
                </a:cubicBezTo>
                <a:close/>
                <a:moveTo>
                  <a:pt x="52734" y="94920"/>
                </a:moveTo>
                <a:lnTo>
                  <a:pt x="137107" y="94920"/>
                </a:lnTo>
                <a:cubicBezTo>
                  <a:pt x="142941" y="94920"/>
                  <a:pt x="147654" y="99633"/>
                  <a:pt x="147654" y="105467"/>
                </a:cubicBezTo>
                <a:cubicBezTo>
                  <a:pt x="147654" y="111301"/>
                  <a:pt x="142941" y="116014"/>
                  <a:pt x="137107" y="116014"/>
                </a:cubicBezTo>
                <a:lnTo>
                  <a:pt x="52734" y="116014"/>
                </a:lnTo>
                <a:cubicBezTo>
                  <a:pt x="46900" y="116014"/>
                  <a:pt x="42187" y="111301"/>
                  <a:pt x="42187" y="105467"/>
                </a:cubicBezTo>
                <a:cubicBezTo>
                  <a:pt x="42187" y="99633"/>
                  <a:pt x="46900" y="94920"/>
                  <a:pt x="52734" y="9492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9" name="Text 6"/>
          <p:cNvSpPr/>
          <p:nvPr/>
        </p:nvSpPr>
        <p:spPr>
          <a:xfrm>
            <a:off x="8390649" y="1626727"/>
            <a:ext cx="340869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79714" y="2031721"/>
            <a:ext cx="67499" cy="67499"/>
          </a:xfrm>
          <a:custGeom>
            <a:avLst/>
            <a:gdLst/>
            <a:ahLst/>
            <a:cxnLst/>
            <a:rect l="l" t="t" r="r" b="b"/>
            <a:pathLst>
              <a:path w="67499" h="67499">
                <a:moveTo>
                  <a:pt x="33749" y="0"/>
                </a:moveTo>
                <a:lnTo>
                  <a:pt x="33749" y="0"/>
                </a:lnTo>
                <a:cubicBezTo>
                  <a:pt x="52389" y="0"/>
                  <a:pt x="67499" y="15110"/>
                  <a:pt x="67499" y="33749"/>
                </a:cubicBezTo>
                <a:lnTo>
                  <a:pt x="67499" y="33749"/>
                </a:lnTo>
                <a:cubicBezTo>
                  <a:pt x="67499" y="52389"/>
                  <a:pt x="52389" y="67499"/>
                  <a:pt x="33749" y="67499"/>
                </a:cubicBezTo>
                <a:lnTo>
                  <a:pt x="33749" y="67499"/>
                </a:lnTo>
                <a:cubicBezTo>
                  <a:pt x="15110" y="67499"/>
                  <a:pt x="0" y="52389"/>
                  <a:pt x="0" y="33749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1" name="Text 8"/>
          <p:cNvSpPr/>
          <p:nvPr/>
        </p:nvSpPr>
        <p:spPr>
          <a:xfrm>
            <a:off x="8348462" y="1964222"/>
            <a:ext cx="3434010" cy="65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Scientists</a:t>
            </a:r>
            <a:pPr>
              <a:lnSpc>
                <a:spcPct val="140000"/>
              </a:lnSpc>
            </a:pPr>
            <a:r>
              <a:rPr lang="en-US" sz="106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the widest salary range, indicating significant variation based on experience and specialization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79714" y="2791085"/>
            <a:ext cx="67499" cy="67499"/>
          </a:xfrm>
          <a:custGeom>
            <a:avLst/>
            <a:gdLst/>
            <a:ahLst/>
            <a:cxnLst/>
            <a:rect l="l" t="t" r="r" b="b"/>
            <a:pathLst>
              <a:path w="67499" h="67499">
                <a:moveTo>
                  <a:pt x="33749" y="0"/>
                </a:moveTo>
                <a:lnTo>
                  <a:pt x="33749" y="0"/>
                </a:lnTo>
                <a:cubicBezTo>
                  <a:pt x="52389" y="0"/>
                  <a:pt x="67499" y="15110"/>
                  <a:pt x="67499" y="33749"/>
                </a:cubicBezTo>
                <a:lnTo>
                  <a:pt x="67499" y="33749"/>
                </a:lnTo>
                <a:cubicBezTo>
                  <a:pt x="67499" y="52389"/>
                  <a:pt x="52389" y="67499"/>
                  <a:pt x="33749" y="67499"/>
                </a:cubicBezTo>
                <a:lnTo>
                  <a:pt x="33749" y="67499"/>
                </a:lnTo>
                <a:cubicBezTo>
                  <a:pt x="15110" y="67499"/>
                  <a:pt x="0" y="52389"/>
                  <a:pt x="0" y="33749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3" name="Text 10"/>
          <p:cNvSpPr/>
          <p:nvPr/>
        </p:nvSpPr>
        <p:spPr>
          <a:xfrm>
            <a:off x="8348462" y="2723586"/>
            <a:ext cx="3434010" cy="4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Engineers</a:t>
            </a:r>
            <a:pPr>
              <a:lnSpc>
                <a:spcPct val="140000"/>
              </a:lnSpc>
            </a:pPr>
            <a:r>
              <a:rPr lang="en-US" sz="106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demonstrate strong upper bounds, reflecting high demand for AI/ML expertise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79714" y="3331076"/>
            <a:ext cx="67499" cy="67499"/>
          </a:xfrm>
          <a:custGeom>
            <a:avLst/>
            <a:gdLst/>
            <a:ahLst/>
            <a:cxnLst/>
            <a:rect l="l" t="t" r="r" b="b"/>
            <a:pathLst>
              <a:path w="67499" h="67499">
                <a:moveTo>
                  <a:pt x="33749" y="0"/>
                </a:moveTo>
                <a:lnTo>
                  <a:pt x="33749" y="0"/>
                </a:lnTo>
                <a:cubicBezTo>
                  <a:pt x="52389" y="0"/>
                  <a:pt x="67499" y="15110"/>
                  <a:pt x="67499" y="33749"/>
                </a:cubicBezTo>
                <a:lnTo>
                  <a:pt x="67499" y="33749"/>
                </a:lnTo>
                <a:cubicBezTo>
                  <a:pt x="67499" y="52389"/>
                  <a:pt x="52389" y="67499"/>
                  <a:pt x="33749" y="67499"/>
                </a:cubicBezTo>
                <a:lnTo>
                  <a:pt x="33749" y="67499"/>
                </a:lnTo>
                <a:cubicBezTo>
                  <a:pt x="15110" y="67499"/>
                  <a:pt x="0" y="52389"/>
                  <a:pt x="0" y="33749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5" name="Text 12"/>
          <p:cNvSpPr/>
          <p:nvPr/>
        </p:nvSpPr>
        <p:spPr>
          <a:xfrm>
            <a:off x="8348462" y="3263577"/>
            <a:ext cx="3434010" cy="4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Analysts</a:t>
            </a:r>
            <a:pPr>
              <a:lnSpc>
                <a:spcPct val="140000"/>
              </a:lnSpc>
            </a:pPr>
            <a:r>
              <a:rPr lang="en-US" sz="1063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 more compressed ranges, suggesting standardized entry-to-mid level compensation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41341" y="3948690"/>
            <a:ext cx="3812004" cy="2909205"/>
          </a:xfrm>
          <a:custGeom>
            <a:avLst/>
            <a:gdLst/>
            <a:ahLst/>
            <a:cxnLst/>
            <a:rect l="l" t="t" r="r" b="b"/>
            <a:pathLst>
              <a:path w="3812004" h="2909205">
                <a:moveTo>
                  <a:pt x="67494" y="0"/>
                </a:moveTo>
                <a:lnTo>
                  <a:pt x="3744510" y="0"/>
                </a:lnTo>
                <a:cubicBezTo>
                  <a:pt x="3781786" y="0"/>
                  <a:pt x="3812004" y="30218"/>
                  <a:pt x="3812004" y="67494"/>
                </a:cubicBezTo>
                <a:lnTo>
                  <a:pt x="3812004" y="2841712"/>
                </a:lnTo>
                <a:cubicBezTo>
                  <a:pt x="3812004" y="2878987"/>
                  <a:pt x="3781786" y="2909205"/>
                  <a:pt x="3744510" y="2909205"/>
                </a:cubicBezTo>
                <a:lnTo>
                  <a:pt x="67494" y="2909205"/>
                </a:lnTo>
                <a:cubicBezTo>
                  <a:pt x="30218" y="2909205"/>
                  <a:pt x="0" y="2878987"/>
                  <a:pt x="0" y="2841712"/>
                </a:cubicBezTo>
                <a:lnTo>
                  <a:pt x="0" y="67494"/>
                </a:lnTo>
                <a:cubicBezTo>
                  <a:pt x="0" y="30218"/>
                  <a:pt x="30218" y="0"/>
                  <a:pt x="67494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1901" y="4120811"/>
            <a:ext cx="126561" cy="168747"/>
          </a:xfrm>
          <a:custGeom>
            <a:avLst/>
            <a:gdLst/>
            <a:ahLst/>
            <a:cxnLst/>
            <a:rect l="l" t="t" r="r" b="b"/>
            <a:pathLst>
              <a:path w="126561" h="168747">
                <a:moveTo>
                  <a:pt x="96535" y="126561"/>
                </a:moveTo>
                <a:cubicBezTo>
                  <a:pt x="98941" y="119211"/>
                  <a:pt x="103753" y="112553"/>
                  <a:pt x="109191" y="106818"/>
                </a:cubicBezTo>
                <a:cubicBezTo>
                  <a:pt x="119969" y="95481"/>
                  <a:pt x="126561" y="80155"/>
                  <a:pt x="126561" y="63280"/>
                </a:cubicBezTo>
                <a:cubicBezTo>
                  <a:pt x="126561" y="28344"/>
                  <a:pt x="98216" y="0"/>
                  <a:pt x="63280" y="0"/>
                </a:cubicBezTo>
                <a:cubicBezTo>
                  <a:pt x="28344" y="0"/>
                  <a:pt x="0" y="28344"/>
                  <a:pt x="0" y="63280"/>
                </a:cubicBezTo>
                <a:cubicBezTo>
                  <a:pt x="0" y="80155"/>
                  <a:pt x="6592" y="95481"/>
                  <a:pt x="17369" y="106818"/>
                </a:cubicBezTo>
                <a:cubicBezTo>
                  <a:pt x="22807" y="112553"/>
                  <a:pt x="27652" y="119211"/>
                  <a:pt x="30025" y="126561"/>
                </a:cubicBezTo>
                <a:lnTo>
                  <a:pt x="96502" y="126561"/>
                </a:lnTo>
                <a:close/>
                <a:moveTo>
                  <a:pt x="94920" y="142381"/>
                </a:moveTo>
                <a:lnTo>
                  <a:pt x="31640" y="142381"/>
                </a:lnTo>
                <a:lnTo>
                  <a:pt x="31640" y="147654"/>
                </a:lnTo>
                <a:cubicBezTo>
                  <a:pt x="31640" y="162222"/>
                  <a:pt x="43439" y="174021"/>
                  <a:pt x="58007" y="174021"/>
                </a:cubicBezTo>
                <a:lnTo>
                  <a:pt x="68554" y="174021"/>
                </a:lnTo>
                <a:cubicBezTo>
                  <a:pt x="83121" y="174021"/>
                  <a:pt x="94920" y="162222"/>
                  <a:pt x="94920" y="147654"/>
                </a:cubicBezTo>
                <a:lnTo>
                  <a:pt x="94920" y="142381"/>
                </a:lnTo>
                <a:close/>
                <a:moveTo>
                  <a:pt x="60644" y="36913"/>
                </a:moveTo>
                <a:cubicBezTo>
                  <a:pt x="47526" y="36913"/>
                  <a:pt x="36913" y="47526"/>
                  <a:pt x="36913" y="60644"/>
                </a:cubicBezTo>
                <a:cubicBezTo>
                  <a:pt x="36913" y="65027"/>
                  <a:pt x="33387" y="68554"/>
                  <a:pt x="29003" y="68554"/>
                </a:cubicBezTo>
                <a:cubicBezTo>
                  <a:pt x="24620" y="68554"/>
                  <a:pt x="21093" y="65027"/>
                  <a:pt x="21093" y="60644"/>
                </a:cubicBezTo>
                <a:cubicBezTo>
                  <a:pt x="21093" y="38792"/>
                  <a:pt x="38792" y="21093"/>
                  <a:pt x="60644" y="21093"/>
                </a:cubicBezTo>
                <a:cubicBezTo>
                  <a:pt x="65027" y="21093"/>
                  <a:pt x="68554" y="24620"/>
                  <a:pt x="68554" y="29003"/>
                </a:cubicBezTo>
                <a:cubicBezTo>
                  <a:pt x="68554" y="33387"/>
                  <a:pt x="65027" y="36913"/>
                  <a:pt x="60644" y="36913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8" name="Text 15"/>
          <p:cNvSpPr/>
          <p:nvPr/>
        </p:nvSpPr>
        <p:spPr>
          <a:xfrm>
            <a:off x="8390649" y="4087061"/>
            <a:ext cx="3408698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Implications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79714" y="4424556"/>
            <a:ext cx="3535258" cy="877487"/>
          </a:xfrm>
          <a:custGeom>
            <a:avLst/>
            <a:gdLst/>
            <a:ahLst/>
            <a:cxnLst/>
            <a:rect l="l" t="t" r="r" b="b"/>
            <a:pathLst>
              <a:path w="3535258" h="877487">
                <a:moveTo>
                  <a:pt x="67496" y="0"/>
                </a:moveTo>
                <a:lnTo>
                  <a:pt x="3467762" y="0"/>
                </a:lnTo>
                <a:cubicBezTo>
                  <a:pt x="3505039" y="0"/>
                  <a:pt x="3535258" y="30219"/>
                  <a:pt x="3535258" y="67496"/>
                </a:cubicBezTo>
                <a:lnTo>
                  <a:pt x="3535258" y="809990"/>
                </a:lnTo>
                <a:cubicBezTo>
                  <a:pt x="3535258" y="847267"/>
                  <a:pt x="3505039" y="877487"/>
                  <a:pt x="3467762" y="877487"/>
                </a:cubicBezTo>
                <a:lnTo>
                  <a:pt x="67496" y="877487"/>
                </a:lnTo>
                <a:cubicBezTo>
                  <a:pt x="30219" y="877487"/>
                  <a:pt x="0" y="847267"/>
                  <a:pt x="0" y="809990"/>
                </a:cubicBezTo>
                <a:lnTo>
                  <a:pt x="0" y="67496"/>
                </a:lnTo>
                <a:cubicBezTo>
                  <a:pt x="0" y="30244"/>
                  <a:pt x="30244" y="0"/>
                  <a:pt x="67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280963" y="4525805"/>
            <a:ext cx="340026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Largest Range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80963" y="4762051"/>
            <a:ext cx="3417135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0963" y="4998297"/>
            <a:ext cx="340026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variance = growth potential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79714" y="5403291"/>
            <a:ext cx="3535258" cy="877487"/>
          </a:xfrm>
          <a:custGeom>
            <a:avLst/>
            <a:gdLst/>
            <a:ahLst/>
            <a:cxnLst/>
            <a:rect l="l" t="t" r="r" b="b"/>
            <a:pathLst>
              <a:path w="3535258" h="877487">
                <a:moveTo>
                  <a:pt x="67496" y="0"/>
                </a:moveTo>
                <a:lnTo>
                  <a:pt x="3467762" y="0"/>
                </a:lnTo>
                <a:cubicBezTo>
                  <a:pt x="3505039" y="0"/>
                  <a:pt x="3535258" y="30219"/>
                  <a:pt x="3535258" y="67496"/>
                </a:cubicBezTo>
                <a:lnTo>
                  <a:pt x="3535258" y="809990"/>
                </a:lnTo>
                <a:cubicBezTo>
                  <a:pt x="3535258" y="847267"/>
                  <a:pt x="3505039" y="877487"/>
                  <a:pt x="3467762" y="877487"/>
                </a:cubicBezTo>
                <a:lnTo>
                  <a:pt x="67496" y="877487"/>
                </a:lnTo>
                <a:cubicBezTo>
                  <a:pt x="30219" y="877487"/>
                  <a:pt x="0" y="847267"/>
                  <a:pt x="0" y="809990"/>
                </a:cubicBezTo>
                <a:lnTo>
                  <a:pt x="0" y="67496"/>
                </a:lnTo>
                <a:cubicBezTo>
                  <a:pt x="0" y="30244"/>
                  <a:pt x="30244" y="0"/>
                  <a:pt x="674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280963" y="5504540"/>
            <a:ext cx="340026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Stable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80963" y="5740786"/>
            <a:ext cx="3417135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Analyst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80963" y="5977032"/>
            <a:ext cx="3400260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3A5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Predictable career progression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537" y="357537"/>
            <a:ext cx="1154843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spc="56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Opportunity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7537" y="643566"/>
            <a:ext cx="11691449" cy="429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8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High-Paying Roles vs Market Volume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7537" y="1179871"/>
            <a:ext cx="11566311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Balancing compensation potential with job availability across data professions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537" y="1573161"/>
            <a:ext cx="7472516" cy="5282604"/>
          </a:xfrm>
          <a:custGeom>
            <a:avLst/>
            <a:gdLst/>
            <a:ahLst/>
            <a:cxnLst/>
            <a:rect l="l" t="t" r="r" b="b"/>
            <a:pathLst>
              <a:path w="7472516" h="5282604">
                <a:moveTo>
                  <a:pt x="107237" y="0"/>
                </a:moveTo>
                <a:lnTo>
                  <a:pt x="7365279" y="0"/>
                </a:lnTo>
                <a:cubicBezTo>
                  <a:pt x="7424505" y="0"/>
                  <a:pt x="7472516" y="48012"/>
                  <a:pt x="7472516" y="107237"/>
                </a:cubicBezTo>
                <a:lnTo>
                  <a:pt x="7472516" y="5175367"/>
                </a:lnTo>
                <a:cubicBezTo>
                  <a:pt x="7472516" y="5234593"/>
                  <a:pt x="7424505" y="5282604"/>
                  <a:pt x="7365279" y="5282604"/>
                </a:cubicBezTo>
                <a:lnTo>
                  <a:pt x="107237" y="5282604"/>
                </a:lnTo>
                <a:cubicBezTo>
                  <a:pt x="48012" y="5282604"/>
                  <a:pt x="0" y="5234593"/>
                  <a:pt x="0" y="5175367"/>
                </a:cubicBezTo>
                <a:lnTo>
                  <a:pt x="0" y="107237"/>
                </a:lnTo>
                <a:cubicBezTo>
                  <a:pt x="0" y="48012"/>
                  <a:pt x="48012" y="0"/>
                  <a:pt x="107237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pic>
        <p:nvPicPr>
          <p:cNvPr id="6" name="Image 0" descr="https://kimi-img.moonshot.cn/pub/slides/26-03-12-15:07:14-d6p6c8g5jtdsorjj4llg.png">    </p:cNvPr>
          <p:cNvPicPr>
            <a:picLocks noChangeAspect="1"/>
          </p:cNvPicPr>
          <p:nvPr/>
        </p:nvPicPr>
        <p:blipFill>
          <a:blip r:embed="rId1"/>
          <a:srcRect l="42" r="42" t="0" b="0"/>
          <a:stretch/>
        </p:blipFill>
        <p:spPr>
          <a:xfrm>
            <a:off x="572059" y="1787683"/>
            <a:ext cx="6551859" cy="485356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8043793" y="1576737"/>
            <a:ext cx="3779162" cy="2903198"/>
          </a:xfrm>
          <a:custGeom>
            <a:avLst/>
            <a:gdLst/>
            <a:ahLst/>
            <a:cxnLst/>
            <a:rect l="l" t="t" r="r" b="b"/>
            <a:pathLst>
              <a:path w="3779162" h="2903198">
                <a:moveTo>
                  <a:pt x="71506" y="0"/>
                </a:moveTo>
                <a:lnTo>
                  <a:pt x="3707657" y="0"/>
                </a:lnTo>
                <a:cubicBezTo>
                  <a:pt x="3747148" y="0"/>
                  <a:pt x="3779162" y="32014"/>
                  <a:pt x="3779162" y="71506"/>
                </a:cubicBezTo>
                <a:lnTo>
                  <a:pt x="3779162" y="2831692"/>
                </a:lnTo>
                <a:cubicBezTo>
                  <a:pt x="3779162" y="2871183"/>
                  <a:pt x="3747148" y="2903198"/>
                  <a:pt x="3707657" y="2903198"/>
                </a:cubicBezTo>
                <a:lnTo>
                  <a:pt x="71506" y="2903198"/>
                </a:lnTo>
                <a:cubicBezTo>
                  <a:pt x="32014" y="2903198"/>
                  <a:pt x="0" y="2871183"/>
                  <a:pt x="0" y="2831692"/>
                </a:cubicBezTo>
                <a:lnTo>
                  <a:pt x="0" y="71506"/>
                </a:lnTo>
                <a:cubicBezTo>
                  <a:pt x="0" y="32041"/>
                  <a:pt x="32041" y="0"/>
                  <a:pt x="71506" y="0"/>
                </a:cubicBezTo>
                <a:close/>
              </a:path>
            </a:pathLst>
          </a:custGeom>
          <a:solidFill>
            <a:srgbClr val="D85D3C">
              <a:alpha val="14902"/>
            </a:srgbClr>
          </a:solidFill>
          <a:ln w="10160">
            <a:solidFill>
              <a:srgbClr val="D85D3C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12729" y="1759083"/>
            <a:ext cx="178768" cy="178768"/>
          </a:xfrm>
          <a:custGeom>
            <a:avLst/>
            <a:gdLst/>
            <a:ahLst/>
            <a:cxnLst/>
            <a:rect l="l" t="t" r="r" b="b"/>
            <a:pathLst>
              <a:path w="178768" h="178768">
                <a:moveTo>
                  <a:pt x="50383" y="0"/>
                </a:moveTo>
                <a:lnTo>
                  <a:pt x="128594" y="0"/>
                </a:lnTo>
                <a:cubicBezTo>
                  <a:pt x="137847" y="0"/>
                  <a:pt x="145389" y="7612"/>
                  <a:pt x="145040" y="16829"/>
                </a:cubicBezTo>
                <a:cubicBezTo>
                  <a:pt x="144970" y="18680"/>
                  <a:pt x="144900" y="20530"/>
                  <a:pt x="144795" y="22346"/>
                </a:cubicBezTo>
                <a:lnTo>
                  <a:pt x="162114" y="22346"/>
                </a:lnTo>
                <a:cubicBezTo>
                  <a:pt x="171227" y="22346"/>
                  <a:pt x="179257" y="29888"/>
                  <a:pt x="178559" y="39734"/>
                </a:cubicBezTo>
                <a:cubicBezTo>
                  <a:pt x="175940" y="75942"/>
                  <a:pt x="157435" y="95844"/>
                  <a:pt x="137358" y="106248"/>
                </a:cubicBezTo>
                <a:cubicBezTo>
                  <a:pt x="131842" y="109112"/>
                  <a:pt x="126220" y="111241"/>
                  <a:pt x="120878" y="112813"/>
                </a:cubicBezTo>
                <a:cubicBezTo>
                  <a:pt x="113825" y="122798"/>
                  <a:pt x="106493" y="128071"/>
                  <a:pt x="100662" y="130899"/>
                </a:cubicBezTo>
                <a:lnTo>
                  <a:pt x="100662" y="156422"/>
                </a:lnTo>
                <a:lnTo>
                  <a:pt x="123008" y="156422"/>
                </a:lnTo>
                <a:cubicBezTo>
                  <a:pt x="129188" y="156422"/>
                  <a:pt x="134181" y="161415"/>
                  <a:pt x="134181" y="167595"/>
                </a:cubicBezTo>
                <a:cubicBezTo>
                  <a:pt x="134181" y="173775"/>
                  <a:pt x="129188" y="178768"/>
                  <a:pt x="123008" y="178768"/>
                </a:cubicBezTo>
                <a:lnTo>
                  <a:pt x="55970" y="178768"/>
                </a:lnTo>
                <a:cubicBezTo>
                  <a:pt x="49790" y="178768"/>
                  <a:pt x="44797" y="173775"/>
                  <a:pt x="44797" y="167595"/>
                </a:cubicBezTo>
                <a:cubicBezTo>
                  <a:pt x="44797" y="161415"/>
                  <a:pt x="49790" y="156422"/>
                  <a:pt x="55970" y="156422"/>
                </a:cubicBezTo>
                <a:lnTo>
                  <a:pt x="78316" y="156422"/>
                </a:lnTo>
                <a:lnTo>
                  <a:pt x="78316" y="130899"/>
                </a:lnTo>
                <a:cubicBezTo>
                  <a:pt x="72729" y="128210"/>
                  <a:pt x="65781" y="123217"/>
                  <a:pt x="59008" y="114035"/>
                </a:cubicBezTo>
                <a:cubicBezTo>
                  <a:pt x="52583" y="112359"/>
                  <a:pt x="45600" y="109810"/>
                  <a:pt x="38791" y="105969"/>
                </a:cubicBezTo>
                <a:cubicBezTo>
                  <a:pt x="19902" y="95390"/>
                  <a:pt x="2863" y="75453"/>
                  <a:pt x="419" y="39664"/>
                </a:cubicBezTo>
                <a:cubicBezTo>
                  <a:pt x="-244" y="29853"/>
                  <a:pt x="7751" y="22311"/>
                  <a:pt x="16864" y="22311"/>
                </a:cubicBezTo>
                <a:lnTo>
                  <a:pt x="34182" y="22311"/>
                </a:lnTo>
                <a:cubicBezTo>
                  <a:pt x="34078" y="20496"/>
                  <a:pt x="34008" y="18680"/>
                  <a:pt x="33938" y="16794"/>
                </a:cubicBezTo>
                <a:cubicBezTo>
                  <a:pt x="33589" y="7542"/>
                  <a:pt x="41131" y="-35"/>
                  <a:pt x="50383" y="-35"/>
                </a:cubicBezTo>
                <a:close/>
                <a:moveTo>
                  <a:pt x="35439" y="39106"/>
                </a:moveTo>
                <a:lnTo>
                  <a:pt x="17144" y="39106"/>
                </a:lnTo>
                <a:cubicBezTo>
                  <a:pt x="19308" y="68679"/>
                  <a:pt x="32891" y="83483"/>
                  <a:pt x="46892" y="91339"/>
                </a:cubicBezTo>
                <a:cubicBezTo>
                  <a:pt x="41864" y="78316"/>
                  <a:pt x="37709" y="61312"/>
                  <a:pt x="35439" y="39106"/>
                </a:cubicBezTo>
                <a:close/>
                <a:moveTo>
                  <a:pt x="132680" y="89663"/>
                </a:moveTo>
                <a:cubicBezTo>
                  <a:pt x="146820" y="81354"/>
                  <a:pt x="159600" y="66584"/>
                  <a:pt x="161764" y="39106"/>
                </a:cubicBezTo>
                <a:lnTo>
                  <a:pt x="143503" y="39106"/>
                </a:lnTo>
                <a:cubicBezTo>
                  <a:pt x="141339" y="60369"/>
                  <a:pt x="137428" y="76884"/>
                  <a:pt x="132680" y="89663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9" name="Text 6"/>
          <p:cNvSpPr/>
          <p:nvPr/>
        </p:nvSpPr>
        <p:spPr>
          <a:xfrm>
            <a:off x="8413843" y="1723329"/>
            <a:ext cx="3351906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Leaders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08260" y="2080866"/>
            <a:ext cx="3468106" cy="1072610"/>
          </a:xfrm>
          <a:custGeom>
            <a:avLst/>
            <a:gdLst/>
            <a:ahLst/>
            <a:cxnLst/>
            <a:rect l="l" t="t" r="r" b="b"/>
            <a:pathLst>
              <a:path w="3468106" h="1072610">
                <a:moveTo>
                  <a:pt x="35754" y="0"/>
                </a:moveTo>
                <a:lnTo>
                  <a:pt x="3396595" y="0"/>
                </a:lnTo>
                <a:cubicBezTo>
                  <a:pt x="3436089" y="0"/>
                  <a:pt x="3468106" y="32017"/>
                  <a:pt x="3468106" y="71511"/>
                </a:cubicBezTo>
                <a:lnTo>
                  <a:pt x="3468106" y="1001099"/>
                </a:lnTo>
                <a:cubicBezTo>
                  <a:pt x="3468106" y="1040593"/>
                  <a:pt x="3436089" y="1072610"/>
                  <a:pt x="3396595" y="1072610"/>
                </a:cubicBezTo>
                <a:lnTo>
                  <a:pt x="35754" y="1072610"/>
                </a:lnTo>
                <a:cubicBezTo>
                  <a:pt x="16007" y="1072610"/>
                  <a:pt x="0" y="1056603"/>
                  <a:pt x="0" y="1036856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208260" y="2080866"/>
            <a:ext cx="35754" cy="1072610"/>
          </a:xfrm>
          <a:custGeom>
            <a:avLst/>
            <a:gdLst/>
            <a:ahLst/>
            <a:cxnLst/>
            <a:rect l="l" t="t" r="r" b="b"/>
            <a:pathLst>
              <a:path w="35754" h="1072610">
                <a:moveTo>
                  <a:pt x="35754" y="0"/>
                </a:moveTo>
                <a:lnTo>
                  <a:pt x="35754" y="0"/>
                </a:lnTo>
                <a:lnTo>
                  <a:pt x="35754" y="1072610"/>
                </a:lnTo>
                <a:lnTo>
                  <a:pt x="35754" y="1072610"/>
                </a:lnTo>
                <a:cubicBezTo>
                  <a:pt x="16007" y="1072610"/>
                  <a:pt x="0" y="1056603"/>
                  <a:pt x="0" y="1036856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2" name="Text 9"/>
          <p:cNvSpPr/>
          <p:nvPr/>
        </p:nvSpPr>
        <p:spPr>
          <a:xfrm>
            <a:off x="8333397" y="2205890"/>
            <a:ext cx="1027918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062855" y="2188127"/>
            <a:ext cx="616751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9" b="1" dirty="0">
                <a:solidFill>
                  <a:srgbClr val="D85D3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~300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33397" y="2545550"/>
            <a:ext cx="330721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High-paying jobs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33397" y="2831579"/>
            <a:ext cx="330721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$110K+</a:t>
            </a:r>
            <a:pPr>
              <a:lnSpc>
                <a:spcPct val="130000"/>
              </a:lnSpc>
            </a:pPr>
            <a:r>
              <a:rPr lang="en-US" sz="11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median salary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08260" y="3260623"/>
            <a:ext cx="3468106" cy="1072610"/>
          </a:xfrm>
          <a:custGeom>
            <a:avLst/>
            <a:gdLst/>
            <a:ahLst/>
            <a:cxnLst/>
            <a:rect l="l" t="t" r="r" b="b"/>
            <a:pathLst>
              <a:path w="3468106" h="1072610">
                <a:moveTo>
                  <a:pt x="35754" y="0"/>
                </a:moveTo>
                <a:lnTo>
                  <a:pt x="3396595" y="0"/>
                </a:lnTo>
                <a:cubicBezTo>
                  <a:pt x="3436089" y="0"/>
                  <a:pt x="3468106" y="32017"/>
                  <a:pt x="3468106" y="71511"/>
                </a:cubicBezTo>
                <a:lnTo>
                  <a:pt x="3468106" y="1001099"/>
                </a:lnTo>
                <a:cubicBezTo>
                  <a:pt x="3468106" y="1040593"/>
                  <a:pt x="3436089" y="1072610"/>
                  <a:pt x="3396595" y="1072610"/>
                </a:cubicBezTo>
                <a:lnTo>
                  <a:pt x="35754" y="1072610"/>
                </a:lnTo>
                <a:cubicBezTo>
                  <a:pt x="16007" y="1072610"/>
                  <a:pt x="0" y="1056603"/>
                  <a:pt x="0" y="1036856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208260" y="3260623"/>
            <a:ext cx="35754" cy="1072610"/>
          </a:xfrm>
          <a:custGeom>
            <a:avLst/>
            <a:gdLst/>
            <a:ahLst/>
            <a:cxnLst/>
            <a:rect l="l" t="t" r="r" b="b"/>
            <a:pathLst>
              <a:path w="35754" h="1072610">
                <a:moveTo>
                  <a:pt x="35754" y="0"/>
                </a:moveTo>
                <a:lnTo>
                  <a:pt x="35754" y="0"/>
                </a:lnTo>
                <a:lnTo>
                  <a:pt x="35754" y="1072610"/>
                </a:lnTo>
                <a:lnTo>
                  <a:pt x="35754" y="1072610"/>
                </a:lnTo>
                <a:cubicBezTo>
                  <a:pt x="16007" y="1072610"/>
                  <a:pt x="0" y="1056603"/>
                  <a:pt x="0" y="1036856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8" name="Text 15"/>
          <p:cNvSpPr/>
          <p:nvPr/>
        </p:nvSpPr>
        <p:spPr>
          <a:xfrm>
            <a:off x="8333397" y="3385648"/>
            <a:ext cx="104579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Engineer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120507" y="3367884"/>
            <a:ext cx="563120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9" b="1" dirty="0">
                <a:solidFill>
                  <a:srgbClr val="3A5F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~120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33397" y="3725308"/>
            <a:ext cx="330721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High-paying jobs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33397" y="4011337"/>
            <a:ext cx="3307214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dirty="0">
                <a:solidFill>
                  <a:srgbClr val="3A5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$105K+</a:t>
            </a:r>
            <a:pPr>
              <a:lnSpc>
                <a:spcPct val="130000"/>
              </a:lnSpc>
            </a:pPr>
            <a:r>
              <a:rPr lang="en-US" sz="11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median salary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043793" y="4594124"/>
            <a:ext cx="3779162" cy="2259632"/>
          </a:xfrm>
          <a:custGeom>
            <a:avLst/>
            <a:gdLst/>
            <a:ahLst/>
            <a:cxnLst/>
            <a:rect l="l" t="t" r="r" b="b"/>
            <a:pathLst>
              <a:path w="3779162" h="2259632">
                <a:moveTo>
                  <a:pt x="71517" y="0"/>
                </a:moveTo>
                <a:lnTo>
                  <a:pt x="3707645" y="0"/>
                </a:lnTo>
                <a:cubicBezTo>
                  <a:pt x="3747117" y="0"/>
                  <a:pt x="3779162" y="32046"/>
                  <a:pt x="3779162" y="71517"/>
                </a:cubicBezTo>
                <a:lnTo>
                  <a:pt x="3779162" y="2188114"/>
                </a:lnTo>
                <a:cubicBezTo>
                  <a:pt x="3779162" y="2227612"/>
                  <a:pt x="3747143" y="2259632"/>
                  <a:pt x="3707645" y="2259632"/>
                </a:cubicBezTo>
                <a:lnTo>
                  <a:pt x="71517" y="2259632"/>
                </a:lnTo>
                <a:cubicBezTo>
                  <a:pt x="32019" y="2259632"/>
                  <a:pt x="0" y="2227612"/>
                  <a:pt x="0" y="2188114"/>
                </a:cubicBezTo>
                <a:lnTo>
                  <a:pt x="0" y="71517"/>
                </a:lnTo>
                <a:cubicBezTo>
                  <a:pt x="0" y="32046"/>
                  <a:pt x="32046" y="0"/>
                  <a:pt x="71517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190383" y="4776466"/>
            <a:ext cx="223460" cy="178768"/>
          </a:xfrm>
          <a:custGeom>
            <a:avLst/>
            <a:gdLst/>
            <a:ahLst/>
            <a:cxnLst/>
            <a:rect l="l" t="t" r="r" b="b"/>
            <a:pathLst>
              <a:path w="223460" h="178768">
                <a:moveTo>
                  <a:pt x="134076" y="11173"/>
                </a:moveTo>
                <a:lnTo>
                  <a:pt x="178768" y="11173"/>
                </a:lnTo>
                <a:cubicBezTo>
                  <a:pt x="184948" y="11173"/>
                  <a:pt x="189941" y="16166"/>
                  <a:pt x="189941" y="22346"/>
                </a:cubicBezTo>
                <a:cubicBezTo>
                  <a:pt x="189941" y="28526"/>
                  <a:pt x="184948" y="33519"/>
                  <a:pt x="178768" y="33519"/>
                </a:cubicBezTo>
                <a:lnTo>
                  <a:pt x="139104" y="33519"/>
                </a:lnTo>
                <a:cubicBezTo>
                  <a:pt x="137288" y="42527"/>
                  <a:pt x="131108" y="49964"/>
                  <a:pt x="122903" y="53526"/>
                </a:cubicBezTo>
                <a:lnTo>
                  <a:pt x="122903" y="156422"/>
                </a:lnTo>
                <a:lnTo>
                  <a:pt x="178768" y="156422"/>
                </a:lnTo>
                <a:cubicBezTo>
                  <a:pt x="184948" y="156422"/>
                  <a:pt x="189941" y="161415"/>
                  <a:pt x="189941" y="167595"/>
                </a:cubicBezTo>
                <a:cubicBezTo>
                  <a:pt x="189941" y="173775"/>
                  <a:pt x="184948" y="178768"/>
                  <a:pt x="178768" y="178768"/>
                </a:cubicBezTo>
                <a:lnTo>
                  <a:pt x="44692" y="178768"/>
                </a:lnTo>
                <a:cubicBezTo>
                  <a:pt x="38512" y="178768"/>
                  <a:pt x="33519" y="173775"/>
                  <a:pt x="33519" y="167595"/>
                </a:cubicBezTo>
                <a:cubicBezTo>
                  <a:pt x="33519" y="161415"/>
                  <a:pt x="38512" y="156422"/>
                  <a:pt x="44692" y="156422"/>
                </a:cubicBezTo>
                <a:lnTo>
                  <a:pt x="100557" y="156422"/>
                </a:lnTo>
                <a:lnTo>
                  <a:pt x="100557" y="53526"/>
                </a:lnTo>
                <a:cubicBezTo>
                  <a:pt x="92352" y="49929"/>
                  <a:pt x="86172" y="42492"/>
                  <a:pt x="84356" y="33519"/>
                </a:cubicBezTo>
                <a:lnTo>
                  <a:pt x="44692" y="33519"/>
                </a:lnTo>
                <a:cubicBezTo>
                  <a:pt x="38512" y="33519"/>
                  <a:pt x="33519" y="28526"/>
                  <a:pt x="33519" y="22346"/>
                </a:cubicBezTo>
                <a:cubicBezTo>
                  <a:pt x="33519" y="16166"/>
                  <a:pt x="38512" y="11173"/>
                  <a:pt x="44692" y="11173"/>
                </a:cubicBezTo>
                <a:lnTo>
                  <a:pt x="89384" y="11173"/>
                </a:lnTo>
                <a:cubicBezTo>
                  <a:pt x="94482" y="4399"/>
                  <a:pt x="102582" y="0"/>
                  <a:pt x="111730" y="0"/>
                </a:cubicBezTo>
                <a:cubicBezTo>
                  <a:pt x="120878" y="0"/>
                  <a:pt x="128979" y="4399"/>
                  <a:pt x="134076" y="11173"/>
                </a:cubicBezTo>
                <a:close/>
                <a:moveTo>
                  <a:pt x="153489" y="111730"/>
                </a:moveTo>
                <a:lnTo>
                  <a:pt x="204047" y="111730"/>
                </a:lnTo>
                <a:lnTo>
                  <a:pt x="178768" y="68365"/>
                </a:lnTo>
                <a:lnTo>
                  <a:pt x="153489" y="111730"/>
                </a:lnTo>
                <a:close/>
                <a:moveTo>
                  <a:pt x="178768" y="145249"/>
                </a:moveTo>
                <a:cubicBezTo>
                  <a:pt x="156806" y="145249"/>
                  <a:pt x="138545" y="133378"/>
                  <a:pt x="134775" y="117701"/>
                </a:cubicBezTo>
                <a:cubicBezTo>
                  <a:pt x="133867" y="113860"/>
                  <a:pt x="135124" y="109915"/>
                  <a:pt x="137114" y="106493"/>
                </a:cubicBezTo>
                <a:lnTo>
                  <a:pt x="170354" y="49510"/>
                </a:lnTo>
                <a:cubicBezTo>
                  <a:pt x="172099" y="46508"/>
                  <a:pt x="175312" y="44692"/>
                  <a:pt x="178768" y="44692"/>
                </a:cubicBezTo>
                <a:cubicBezTo>
                  <a:pt x="182225" y="44692"/>
                  <a:pt x="185437" y="46543"/>
                  <a:pt x="187183" y="49510"/>
                </a:cubicBezTo>
                <a:lnTo>
                  <a:pt x="220423" y="106493"/>
                </a:lnTo>
                <a:cubicBezTo>
                  <a:pt x="222413" y="109915"/>
                  <a:pt x="223670" y="113860"/>
                  <a:pt x="222762" y="117701"/>
                </a:cubicBezTo>
                <a:cubicBezTo>
                  <a:pt x="218991" y="133343"/>
                  <a:pt x="200730" y="145249"/>
                  <a:pt x="178768" y="145249"/>
                </a:cubicBezTo>
                <a:close/>
                <a:moveTo>
                  <a:pt x="44273" y="68365"/>
                </a:moveTo>
                <a:lnTo>
                  <a:pt x="18994" y="111730"/>
                </a:lnTo>
                <a:lnTo>
                  <a:pt x="69587" y="111730"/>
                </a:lnTo>
                <a:lnTo>
                  <a:pt x="44273" y="68365"/>
                </a:lnTo>
                <a:close/>
                <a:moveTo>
                  <a:pt x="314" y="117701"/>
                </a:moveTo>
                <a:cubicBezTo>
                  <a:pt x="-594" y="113860"/>
                  <a:pt x="663" y="109915"/>
                  <a:pt x="2654" y="106493"/>
                </a:cubicBezTo>
                <a:lnTo>
                  <a:pt x="35893" y="49510"/>
                </a:lnTo>
                <a:cubicBezTo>
                  <a:pt x="37639" y="46508"/>
                  <a:pt x="40851" y="44692"/>
                  <a:pt x="44308" y="44692"/>
                </a:cubicBezTo>
                <a:cubicBezTo>
                  <a:pt x="47765" y="44692"/>
                  <a:pt x="50977" y="46543"/>
                  <a:pt x="52723" y="49510"/>
                </a:cubicBezTo>
                <a:lnTo>
                  <a:pt x="85962" y="106493"/>
                </a:lnTo>
                <a:cubicBezTo>
                  <a:pt x="87953" y="109915"/>
                  <a:pt x="89210" y="113860"/>
                  <a:pt x="88302" y="117701"/>
                </a:cubicBezTo>
                <a:cubicBezTo>
                  <a:pt x="84531" y="133343"/>
                  <a:pt x="66270" y="145249"/>
                  <a:pt x="44308" y="145249"/>
                </a:cubicBezTo>
                <a:cubicBezTo>
                  <a:pt x="22346" y="145249"/>
                  <a:pt x="4085" y="133378"/>
                  <a:pt x="314" y="117701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4" name="Text 21"/>
          <p:cNvSpPr/>
          <p:nvPr/>
        </p:nvSpPr>
        <p:spPr>
          <a:xfrm>
            <a:off x="8413843" y="4740713"/>
            <a:ext cx="3351906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 vs Value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12729" y="5134003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80446" y="160891"/>
                </a:moveTo>
                <a:cubicBezTo>
                  <a:pt x="124845" y="160891"/>
                  <a:pt x="160891" y="124845"/>
                  <a:pt x="160891" y="80446"/>
                </a:cubicBezTo>
                <a:cubicBezTo>
                  <a:pt x="160891" y="36047"/>
                  <a:pt x="124845" y="0"/>
                  <a:pt x="80446" y="0"/>
                </a:cubicBezTo>
                <a:cubicBezTo>
                  <a:pt x="36047" y="0"/>
                  <a:pt x="0" y="36047"/>
                  <a:pt x="0" y="80446"/>
                </a:cubicBezTo>
                <a:cubicBezTo>
                  <a:pt x="0" y="124845"/>
                  <a:pt x="36047" y="160891"/>
                  <a:pt x="80446" y="160891"/>
                </a:cubicBezTo>
                <a:close/>
                <a:moveTo>
                  <a:pt x="106968" y="66839"/>
                </a:moveTo>
                <a:lnTo>
                  <a:pt x="81828" y="107062"/>
                </a:lnTo>
                <a:cubicBezTo>
                  <a:pt x="80509" y="109167"/>
                  <a:pt x="78246" y="110487"/>
                  <a:pt x="75764" y="110613"/>
                </a:cubicBezTo>
                <a:cubicBezTo>
                  <a:pt x="73281" y="110739"/>
                  <a:pt x="70893" y="109607"/>
                  <a:pt x="69416" y="107596"/>
                </a:cubicBezTo>
                <a:lnTo>
                  <a:pt x="54332" y="87485"/>
                </a:lnTo>
                <a:cubicBezTo>
                  <a:pt x="51818" y="84154"/>
                  <a:pt x="52510" y="79440"/>
                  <a:pt x="55841" y="76926"/>
                </a:cubicBezTo>
                <a:cubicBezTo>
                  <a:pt x="59172" y="74412"/>
                  <a:pt x="63885" y="75104"/>
                  <a:pt x="66399" y="78435"/>
                </a:cubicBezTo>
                <a:lnTo>
                  <a:pt x="74884" y="89747"/>
                </a:lnTo>
                <a:lnTo>
                  <a:pt x="94178" y="58857"/>
                </a:lnTo>
                <a:cubicBezTo>
                  <a:pt x="96378" y="55338"/>
                  <a:pt x="101029" y="54238"/>
                  <a:pt x="104579" y="56469"/>
                </a:cubicBezTo>
                <a:cubicBezTo>
                  <a:pt x="108130" y="58700"/>
                  <a:pt x="109199" y="63320"/>
                  <a:pt x="106968" y="66871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26" name="Text 23"/>
          <p:cNvSpPr/>
          <p:nvPr/>
        </p:nvSpPr>
        <p:spPr>
          <a:xfrm>
            <a:off x="8498758" y="5098249"/>
            <a:ext cx="3253584" cy="46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6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Scientists</a:t>
            </a:r>
            <a:pPr>
              <a:lnSpc>
                <a:spcPct val="140000"/>
              </a:lnSpc>
            </a:pPr>
            <a:r>
              <a:rPr lang="en-US" sz="11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offer the best combination of high volume and premium compensation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12729" y="5706062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80446" y="160891"/>
                </a:moveTo>
                <a:cubicBezTo>
                  <a:pt x="124845" y="160891"/>
                  <a:pt x="160891" y="124845"/>
                  <a:pt x="160891" y="80446"/>
                </a:cubicBezTo>
                <a:cubicBezTo>
                  <a:pt x="160891" y="36047"/>
                  <a:pt x="124845" y="0"/>
                  <a:pt x="80446" y="0"/>
                </a:cubicBezTo>
                <a:cubicBezTo>
                  <a:pt x="36047" y="0"/>
                  <a:pt x="0" y="36047"/>
                  <a:pt x="0" y="80446"/>
                </a:cubicBezTo>
                <a:cubicBezTo>
                  <a:pt x="0" y="124845"/>
                  <a:pt x="36047" y="160891"/>
                  <a:pt x="80446" y="160891"/>
                </a:cubicBezTo>
                <a:close/>
                <a:moveTo>
                  <a:pt x="106968" y="66839"/>
                </a:moveTo>
                <a:lnTo>
                  <a:pt x="81828" y="107062"/>
                </a:lnTo>
                <a:cubicBezTo>
                  <a:pt x="80509" y="109167"/>
                  <a:pt x="78246" y="110487"/>
                  <a:pt x="75764" y="110613"/>
                </a:cubicBezTo>
                <a:cubicBezTo>
                  <a:pt x="73281" y="110739"/>
                  <a:pt x="70893" y="109607"/>
                  <a:pt x="69416" y="107596"/>
                </a:cubicBezTo>
                <a:lnTo>
                  <a:pt x="54332" y="87485"/>
                </a:lnTo>
                <a:cubicBezTo>
                  <a:pt x="51818" y="84154"/>
                  <a:pt x="52510" y="79440"/>
                  <a:pt x="55841" y="76926"/>
                </a:cubicBezTo>
                <a:cubicBezTo>
                  <a:pt x="59172" y="74412"/>
                  <a:pt x="63885" y="75104"/>
                  <a:pt x="66399" y="78435"/>
                </a:cubicBezTo>
                <a:lnTo>
                  <a:pt x="74884" y="89747"/>
                </a:lnTo>
                <a:lnTo>
                  <a:pt x="94178" y="58857"/>
                </a:lnTo>
                <a:cubicBezTo>
                  <a:pt x="96378" y="55338"/>
                  <a:pt x="101029" y="54238"/>
                  <a:pt x="104579" y="56469"/>
                </a:cubicBezTo>
                <a:cubicBezTo>
                  <a:pt x="108130" y="58700"/>
                  <a:pt x="109199" y="63320"/>
                  <a:pt x="106968" y="66871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8" name="Text 25"/>
          <p:cNvSpPr/>
          <p:nvPr/>
        </p:nvSpPr>
        <p:spPr>
          <a:xfrm>
            <a:off x="8498758" y="5670308"/>
            <a:ext cx="3253584" cy="46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6" b="1" dirty="0">
                <a:solidFill>
                  <a:srgbClr val="3A5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Analysts</a:t>
            </a:r>
            <a:pPr>
              <a:lnSpc>
                <a:spcPct val="140000"/>
              </a:lnSpc>
            </a:pPr>
            <a:r>
              <a:rPr lang="en-US" sz="11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the highest job volume with moderate compensation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12729" y="6278120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80446" y="160891"/>
                </a:moveTo>
                <a:cubicBezTo>
                  <a:pt x="124845" y="160891"/>
                  <a:pt x="160891" y="124845"/>
                  <a:pt x="160891" y="80446"/>
                </a:cubicBezTo>
                <a:cubicBezTo>
                  <a:pt x="160891" y="36047"/>
                  <a:pt x="124845" y="0"/>
                  <a:pt x="80446" y="0"/>
                </a:cubicBezTo>
                <a:cubicBezTo>
                  <a:pt x="36047" y="0"/>
                  <a:pt x="0" y="36047"/>
                  <a:pt x="0" y="80446"/>
                </a:cubicBezTo>
                <a:cubicBezTo>
                  <a:pt x="0" y="124845"/>
                  <a:pt x="36047" y="160891"/>
                  <a:pt x="80446" y="160891"/>
                </a:cubicBezTo>
                <a:close/>
                <a:moveTo>
                  <a:pt x="106968" y="66839"/>
                </a:moveTo>
                <a:lnTo>
                  <a:pt x="81828" y="107062"/>
                </a:lnTo>
                <a:cubicBezTo>
                  <a:pt x="80509" y="109167"/>
                  <a:pt x="78246" y="110487"/>
                  <a:pt x="75764" y="110613"/>
                </a:cubicBezTo>
                <a:cubicBezTo>
                  <a:pt x="73281" y="110739"/>
                  <a:pt x="70893" y="109607"/>
                  <a:pt x="69416" y="107596"/>
                </a:cubicBezTo>
                <a:lnTo>
                  <a:pt x="54332" y="87485"/>
                </a:lnTo>
                <a:cubicBezTo>
                  <a:pt x="51818" y="84154"/>
                  <a:pt x="52510" y="79440"/>
                  <a:pt x="55841" y="76926"/>
                </a:cubicBezTo>
                <a:cubicBezTo>
                  <a:pt x="59172" y="74412"/>
                  <a:pt x="63885" y="75104"/>
                  <a:pt x="66399" y="78435"/>
                </a:cubicBezTo>
                <a:lnTo>
                  <a:pt x="74884" y="89747"/>
                </a:lnTo>
                <a:lnTo>
                  <a:pt x="94178" y="58857"/>
                </a:lnTo>
                <a:cubicBezTo>
                  <a:pt x="96378" y="55338"/>
                  <a:pt x="101029" y="54238"/>
                  <a:pt x="104579" y="56469"/>
                </a:cubicBezTo>
                <a:cubicBezTo>
                  <a:pt x="108130" y="58700"/>
                  <a:pt x="109199" y="63320"/>
                  <a:pt x="106968" y="66871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0" name="Text 27"/>
          <p:cNvSpPr/>
          <p:nvPr/>
        </p:nvSpPr>
        <p:spPr>
          <a:xfrm>
            <a:off x="8498758" y="6242367"/>
            <a:ext cx="3253584" cy="464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6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Engineers</a:t>
            </a:r>
            <a:pPr>
              <a:lnSpc>
                <a:spcPct val="140000"/>
              </a:lnSpc>
            </a:pPr>
            <a:r>
              <a:rPr lang="en-US" sz="11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premium pay but limited high-paying opportunities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cb4d633c60135ad1a3ccda88ae02b09c8751bc73.web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493873"/>
            <a:ext cx="1969770" cy="541020"/>
          </a:xfrm>
          <a:custGeom>
            <a:avLst/>
            <a:gdLst/>
            <a:ahLst/>
            <a:cxnLst/>
            <a:rect l="l" t="t" r="r" b="b"/>
            <a:pathLst>
              <a:path w="1969770" h="541020">
                <a:moveTo>
                  <a:pt x="270510" y="0"/>
                </a:moveTo>
                <a:lnTo>
                  <a:pt x="1699260" y="0"/>
                </a:lnTo>
                <a:cubicBezTo>
                  <a:pt x="1848659" y="0"/>
                  <a:pt x="1969770" y="121111"/>
                  <a:pt x="1969770" y="270510"/>
                </a:cubicBezTo>
                <a:lnTo>
                  <a:pt x="1969770" y="270510"/>
                </a:lnTo>
                <a:cubicBezTo>
                  <a:pt x="1969770" y="419909"/>
                  <a:pt x="1848659" y="541020"/>
                  <a:pt x="1699260" y="541020"/>
                </a:cubicBezTo>
                <a:lnTo>
                  <a:pt x="270510" y="541020"/>
                </a:lnTo>
                <a:cubicBezTo>
                  <a:pt x="121211" y="541020"/>
                  <a:pt x="0" y="419809"/>
                  <a:pt x="0" y="270510"/>
                </a:cubicBezTo>
                <a:lnTo>
                  <a:pt x="0" y="270510"/>
                </a:lnTo>
                <a:cubicBezTo>
                  <a:pt x="0" y="121211"/>
                  <a:pt x="121211" y="0"/>
                  <a:pt x="270510" y="0"/>
                </a:cubicBezTo>
                <a:close/>
              </a:path>
            </a:pathLst>
          </a:custGeom>
          <a:solidFill>
            <a:srgbClr val="D85D3C">
              <a:alpha val="20000"/>
            </a:srgbClr>
          </a:solidFill>
          <a:ln w="10160">
            <a:solidFill>
              <a:srgbClr val="D85D3C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7220" y="634840"/>
            <a:ext cx="1616273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spc="180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343383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Skill Demand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934183"/>
            <a:ext cx="1828800" cy="57150"/>
          </a:xfrm>
          <a:custGeom>
            <a:avLst/>
            <a:gdLst/>
            <a:ahLst/>
            <a:cxnLst/>
            <a:rect l="l" t="t" r="r" b="b"/>
            <a:pathLst>
              <a:path w="1828800" h="57150">
                <a:moveTo>
                  <a:pt x="0" y="0"/>
                </a:moveTo>
                <a:lnTo>
                  <a:pt x="1828800" y="0"/>
                </a:lnTo>
                <a:lnTo>
                  <a:pt x="1828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372333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technical competencies driving the market and the skills that command premium opportunities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8620" y="5765841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5">
                <a:moveTo>
                  <a:pt x="298133" y="0"/>
                </a:moveTo>
                <a:lnTo>
                  <a:pt x="298132" y="0"/>
                </a:lnTo>
                <a:cubicBezTo>
                  <a:pt x="462787" y="0"/>
                  <a:pt x="596265" y="133478"/>
                  <a:pt x="596265" y="298133"/>
                </a:cubicBezTo>
                <a:lnTo>
                  <a:pt x="596265" y="298132"/>
                </a:lnTo>
                <a:cubicBezTo>
                  <a:pt x="596265" y="462787"/>
                  <a:pt x="462787" y="596265"/>
                  <a:pt x="298132" y="596265"/>
                </a:cubicBezTo>
                <a:lnTo>
                  <a:pt x="298133" y="596265"/>
                </a:lnTo>
                <a:cubicBezTo>
                  <a:pt x="133478" y="596265"/>
                  <a:pt x="0" y="462787"/>
                  <a:pt x="0" y="298132"/>
                </a:cubicBezTo>
                <a:lnTo>
                  <a:pt x="0" y="298133"/>
                </a:lnTo>
                <a:cubicBezTo>
                  <a:pt x="0" y="133478"/>
                  <a:pt x="133478" y="0"/>
                  <a:pt x="29813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7213" y="594872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5758221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392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3000" y="6101121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Demand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647950" y="5765841"/>
            <a:ext cx="596265" cy="596265"/>
          </a:xfrm>
          <a:custGeom>
            <a:avLst/>
            <a:gdLst/>
            <a:ahLst/>
            <a:cxnLst/>
            <a:rect l="l" t="t" r="r" b="b"/>
            <a:pathLst>
              <a:path w="596265" h="596265">
                <a:moveTo>
                  <a:pt x="298133" y="0"/>
                </a:moveTo>
                <a:lnTo>
                  <a:pt x="298132" y="0"/>
                </a:lnTo>
                <a:cubicBezTo>
                  <a:pt x="462787" y="0"/>
                  <a:pt x="596265" y="133478"/>
                  <a:pt x="596265" y="298133"/>
                </a:cubicBezTo>
                <a:lnTo>
                  <a:pt x="596265" y="298132"/>
                </a:lnTo>
                <a:cubicBezTo>
                  <a:pt x="596265" y="462787"/>
                  <a:pt x="462787" y="596265"/>
                  <a:pt x="298132" y="596265"/>
                </a:cubicBezTo>
                <a:lnTo>
                  <a:pt x="298133" y="596265"/>
                </a:lnTo>
                <a:cubicBezTo>
                  <a:pt x="133478" y="596265"/>
                  <a:pt x="0" y="462787"/>
                  <a:pt x="0" y="298132"/>
                </a:cubicBezTo>
                <a:lnTo>
                  <a:pt x="0" y="298133"/>
                </a:lnTo>
                <a:cubicBezTo>
                  <a:pt x="0" y="133478"/>
                  <a:pt x="133478" y="0"/>
                  <a:pt x="298132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 w="20320">
            <a:solidFill>
              <a:srgbClr val="3A5F7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45118" y="594872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5" name="Text 12"/>
          <p:cNvSpPr/>
          <p:nvPr/>
        </p:nvSpPr>
        <p:spPr>
          <a:xfrm>
            <a:off x="3402330" y="5758221"/>
            <a:ext cx="1123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380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2330" y="6101121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Demand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847" y="339847"/>
            <a:ext cx="11580276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b="1" spc="54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Competencies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847" y="611724"/>
            <a:ext cx="11716215" cy="40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11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Skills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847" y="1121494"/>
            <a:ext cx="11597268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8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in-demand technical skills across all data roles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9847" y="1495325"/>
            <a:ext cx="6949865" cy="5361082"/>
          </a:xfrm>
          <a:custGeom>
            <a:avLst/>
            <a:gdLst/>
            <a:ahLst/>
            <a:cxnLst/>
            <a:rect l="l" t="t" r="r" b="b"/>
            <a:pathLst>
              <a:path w="6949865" h="5361082">
                <a:moveTo>
                  <a:pt x="101968" y="0"/>
                </a:moveTo>
                <a:lnTo>
                  <a:pt x="6847897" y="0"/>
                </a:lnTo>
                <a:cubicBezTo>
                  <a:pt x="6904212" y="0"/>
                  <a:pt x="6949865" y="45653"/>
                  <a:pt x="6949865" y="101968"/>
                </a:cubicBezTo>
                <a:lnTo>
                  <a:pt x="6949865" y="5259114"/>
                </a:lnTo>
                <a:cubicBezTo>
                  <a:pt x="6949865" y="5315429"/>
                  <a:pt x="6904212" y="5361082"/>
                  <a:pt x="6847897" y="5361082"/>
                </a:cubicBezTo>
                <a:lnTo>
                  <a:pt x="101968" y="5361082"/>
                </a:lnTo>
                <a:cubicBezTo>
                  <a:pt x="45653" y="5361082"/>
                  <a:pt x="0" y="5315429"/>
                  <a:pt x="0" y="5259114"/>
                </a:cubicBezTo>
                <a:lnTo>
                  <a:pt x="0" y="101968"/>
                </a:lnTo>
                <a:cubicBezTo>
                  <a:pt x="0" y="45690"/>
                  <a:pt x="45690" y="0"/>
                  <a:pt x="101968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pic>
        <p:nvPicPr>
          <p:cNvPr id="6" name="Image 0" descr="https://kimi-img.moonshot.cn/pub/slides/26-03-12-15:07:14-d6p6c8n826popvt79sm0.png">    </p:cNvPr>
          <p:cNvPicPr>
            <a:picLocks noChangeAspect="1"/>
          </p:cNvPicPr>
          <p:nvPr/>
        </p:nvPicPr>
        <p:blipFill>
          <a:blip r:embed="rId1"/>
          <a:srcRect l="37" r="37" t="0" b="0"/>
          <a:stretch/>
        </p:blipFill>
        <p:spPr>
          <a:xfrm>
            <a:off x="543755" y="1699233"/>
            <a:ext cx="5751905" cy="4953266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493620" y="1498724"/>
            <a:ext cx="4348338" cy="2759555"/>
          </a:xfrm>
          <a:custGeom>
            <a:avLst/>
            <a:gdLst/>
            <a:ahLst/>
            <a:cxnLst/>
            <a:rect l="l" t="t" r="r" b="b"/>
            <a:pathLst>
              <a:path w="4348338" h="2759555">
                <a:moveTo>
                  <a:pt x="67968" y="0"/>
                </a:moveTo>
                <a:lnTo>
                  <a:pt x="4280371" y="0"/>
                </a:lnTo>
                <a:cubicBezTo>
                  <a:pt x="4317908" y="0"/>
                  <a:pt x="4348338" y="30430"/>
                  <a:pt x="4348338" y="67968"/>
                </a:cubicBezTo>
                <a:lnTo>
                  <a:pt x="4348338" y="2691587"/>
                </a:lnTo>
                <a:cubicBezTo>
                  <a:pt x="4348338" y="2729125"/>
                  <a:pt x="4317908" y="2759555"/>
                  <a:pt x="4280371" y="2759555"/>
                </a:cubicBezTo>
                <a:lnTo>
                  <a:pt x="67968" y="2759555"/>
                </a:lnTo>
                <a:cubicBezTo>
                  <a:pt x="30430" y="2759555"/>
                  <a:pt x="0" y="2729125"/>
                  <a:pt x="0" y="2691587"/>
                </a:cubicBezTo>
                <a:lnTo>
                  <a:pt x="0" y="67968"/>
                </a:lnTo>
                <a:cubicBezTo>
                  <a:pt x="0" y="30430"/>
                  <a:pt x="30430" y="0"/>
                  <a:pt x="67968" y="0"/>
                </a:cubicBezTo>
                <a:close/>
              </a:path>
            </a:pathLst>
          </a:custGeom>
          <a:solidFill>
            <a:srgbClr val="D85D3C">
              <a:alpha val="14902"/>
            </a:srgbClr>
          </a:solidFill>
          <a:ln w="10160">
            <a:solidFill>
              <a:srgbClr val="D85D3C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43577" y="1672048"/>
            <a:ext cx="191164" cy="169923"/>
          </a:xfrm>
          <a:custGeom>
            <a:avLst/>
            <a:gdLst/>
            <a:ahLst/>
            <a:cxnLst/>
            <a:rect l="l" t="t" r="r" b="b"/>
            <a:pathLst>
              <a:path w="191164" h="169923">
                <a:moveTo>
                  <a:pt x="102717" y="-6273"/>
                </a:moveTo>
                <a:cubicBezTo>
                  <a:pt x="101357" y="-8928"/>
                  <a:pt x="98602" y="-10620"/>
                  <a:pt x="95615" y="-10620"/>
                </a:cubicBezTo>
                <a:cubicBezTo>
                  <a:pt x="92628" y="-10620"/>
                  <a:pt x="89874" y="-8928"/>
                  <a:pt x="88513" y="-6273"/>
                </a:cubicBezTo>
                <a:lnTo>
                  <a:pt x="64086" y="41585"/>
                </a:lnTo>
                <a:lnTo>
                  <a:pt x="11018" y="50015"/>
                </a:lnTo>
                <a:cubicBezTo>
                  <a:pt x="8065" y="50479"/>
                  <a:pt x="5609" y="52570"/>
                  <a:pt x="4680" y="55424"/>
                </a:cubicBezTo>
                <a:cubicBezTo>
                  <a:pt x="3750" y="58278"/>
                  <a:pt x="4514" y="61398"/>
                  <a:pt x="6604" y="63522"/>
                </a:cubicBezTo>
                <a:lnTo>
                  <a:pt x="44572" y="101523"/>
                </a:lnTo>
                <a:lnTo>
                  <a:pt x="36208" y="154590"/>
                </a:lnTo>
                <a:cubicBezTo>
                  <a:pt x="35744" y="157544"/>
                  <a:pt x="36972" y="160531"/>
                  <a:pt x="39394" y="162290"/>
                </a:cubicBezTo>
                <a:cubicBezTo>
                  <a:pt x="41817" y="164049"/>
                  <a:pt x="45003" y="164315"/>
                  <a:pt x="47691" y="162954"/>
                </a:cubicBezTo>
                <a:lnTo>
                  <a:pt x="95615" y="138594"/>
                </a:lnTo>
                <a:lnTo>
                  <a:pt x="143506" y="162954"/>
                </a:lnTo>
                <a:cubicBezTo>
                  <a:pt x="146161" y="164315"/>
                  <a:pt x="149380" y="164049"/>
                  <a:pt x="151803" y="162290"/>
                </a:cubicBezTo>
                <a:cubicBezTo>
                  <a:pt x="154225" y="160531"/>
                  <a:pt x="155453" y="157577"/>
                  <a:pt x="154989" y="154590"/>
                </a:cubicBezTo>
                <a:lnTo>
                  <a:pt x="146592" y="101523"/>
                </a:lnTo>
                <a:lnTo>
                  <a:pt x="184559" y="63522"/>
                </a:lnTo>
                <a:cubicBezTo>
                  <a:pt x="186683" y="61398"/>
                  <a:pt x="187414" y="58278"/>
                  <a:pt x="186484" y="55424"/>
                </a:cubicBezTo>
                <a:cubicBezTo>
                  <a:pt x="185555" y="52570"/>
                  <a:pt x="183132" y="50479"/>
                  <a:pt x="180145" y="50015"/>
                </a:cubicBezTo>
                <a:lnTo>
                  <a:pt x="127111" y="41585"/>
                </a:lnTo>
                <a:lnTo>
                  <a:pt x="102717" y="-6273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9" name="Text 6"/>
          <p:cNvSpPr/>
          <p:nvPr/>
        </p:nvSpPr>
        <p:spPr>
          <a:xfrm>
            <a:off x="7845361" y="1638064"/>
            <a:ext cx="3942222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3 Skills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32957" y="1977910"/>
            <a:ext cx="4069664" cy="645709"/>
          </a:xfrm>
          <a:custGeom>
            <a:avLst/>
            <a:gdLst/>
            <a:ahLst/>
            <a:cxnLst/>
            <a:rect l="l" t="t" r="r" b="b"/>
            <a:pathLst>
              <a:path w="4069664" h="645709">
                <a:moveTo>
                  <a:pt x="67967" y="0"/>
                </a:moveTo>
                <a:lnTo>
                  <a:pt x="4001697" y="0"/>
                </a:lnTo>
                <a:cubicBezTo>
                  <a:pt x="4039234" y="0"/>
                  <a:pt x="4069664" y="30430"/>
                  <a:pt x="4069664" y="67967"/>
                </a:cubicBezTo>
                <a:lnTo>
                  <a:pt x="4069664" y="577741"/>
                </a:lnTo>
                <a:cubicBezTo>
                  <a:pt x="4069664" y="615279"/>
                  <a:pt x="4039234" y="645709"/>
                  <a:pt x="4001697" y="645709"/>
                </a:cubicBezTo>
                <a:lnTo>
                  <a:pt x="67967" y="645709"/>
                </a:lnTo>
                <a:cubicBezTo>
                  <a:pt x="30430" y="645709"/>
                  <a:pt x="0" y="615279"/>
                  <a:pt x="0" y="577741"/>
                </a:cubicBezTo>
                <a:lnTo>
                  <a:pt x="0" y="67967"/>
                </a:lnTo>
                <a:cubicBezTo>
                  <a:pt x="0" y="30455"/>
                  <a:pt x="30455" y="0"/>
                  <a:pt x="679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734911" y="2096857"/>
            <a:ext cx="407816" cy="407816"/>
          </a:xfrm>
          <a:custGeom>
            <a:avLst/>
            <a:gdLst/>
            <a:ahLst/>
            <a:cxnLst/>
            <a:rect l="l" t="t" r="r" b="b"/>
            <a:pathLst>
              <a:path w="407816" h="407816">
                <a:moveTo>
                  <a:pt x="203908" y="0"/>
                </a:moveTo>
                <a:lnTo>
                  <a:pt x="203908" y="0"/>
                </a:lnTo>
                <a:cubicBezTo>
                  <a:pt x="316448" y="0"/>
                  <a:pt x="407816" y="91368"/>
                  <a:pt x="407816" y="203908"/>
                </a:cubicBezTo>
                <a:lnTo>
                  <a:pt x="407816" y="203908"/>
                </a:lnTo>
                <a:cubicBezTo>
                  <a:pt x="407816" y="316448"/>
                  <a:pt x="316448" y="407816"/>
                  <a:pt x="203908" y="407816"/>
                </a:cubicBezTo>
                <a:lnTo>
                  <a:pt x="203908" y="407816"/>
                </a:lnTo>
                <a:cubicBezTo>
                  <a:pt x="91368" y="407816"/>
                  <a:pt x="0" y="316448"/>
                  <a:pt x="0" y="203908"/>
                </a:cubicBezTo>
                <a:lnTo>
                  <a:pt x="0" y="203908"/>
                </a:lnTo>
                <a:cubicBezTo>
                  <a:pt x="0" y="91368"/>
                  <a:pt x="91368" y="0"/>
                  <a:pt x="203908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2" name="Text 9"/>
          <p:cNvSpPr/>
          <p:nvPr/>
        </p:nvSpPr>
        <p:spPr>
          <a:xfrm>
            <a:off x="7692430" y="2096857"/>
            <a:ext cx="492778" cy="40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78666" y="2079864"/>
            <a:ext cx="2769751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78666" y="2317757"/>
            <a:ext cx="276125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392 job mentions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04809" y="2164826"/>
            <a:ext cx="603228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D85D3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32957" y="2725573"/>
            <a:ext cx="4069664" cy="645709"/>
          </a:xfrm>
          <a:custGeom>
            <a:avLst/>
            <a:gdLst/>
            <a:ahLst/>
            <a:cxnLst/>
            <a:rect l="l" t="t" r="r" b="b"/>
            <a:pathLst>
              <a:path w="4069664" h="645709">
                <a:moveTo>
                  <a:pt x="67967" y="0"/>
                </a:moveTo>
                <a:lnTo>
                  <a:pt x="4001697" y="0"/>
                </a:lnTo>
                <a:cubicBezTo>
                  <a:pt x="4039234" y="0"/>
                  <a:pt x="4069664" y="30430"/>
                  <a:pt x="4069664" y="67967"/>
                </a:cubicBezTo>
                <a:lnTo>
                  <a:pt x="4069664" y="577741"/>
                </a:lnTo>
                <a:cubicBezTo>
                  <a:pt x="4069664" y="615279"/>
                  <a:pt x="4039234" y="645709"/>
                  <a:pt x="4001697" y="645709"/>
                </a:cubicBezTo>
                <a:lnTo>
                  <a:pt x="67967" y="645709"/>
                </a:lnTo>
                <a:cubicBezTo>
                  <a:pt x="30430" y="645709"/>
                  <a:pt x="0" y="615279"/>
                  <a:pt x="0" y="577741"/>
                </a:cubicBezTo>
                <a:lnTo>
                  <a:pt x="0" y="67967"/>
                </a:lnTo>
                <a:cubicBezTo>
                  <a:pt x="0" y="30455"/>
                  <a:pt x="30455" y="0"/>
                  <a:pt x="679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734911" y="2844519"/>
            <a:ext cx="407816" cy="407816"/>
          </a:xfrm>
          <a:custGeom>
            <a:avLst/>
            <a:gdLst/>
            <a:ahLst/>
            <a:cxnLst/>
            <a:rect l="l" t="t" r="r" b="b"/>
            <a:pathLst>
              <a:path w="407816" h="407816">
                <a:moveTo>
                  <a:pt x="203908" y="0"/>
                </a:moveTo>
                <a:lnTo>
                  <a:pt x="203908" y="0"/>
                </a:lnTo>
                <a:cubicBezTo>
                  <a:pt x="316448" y="0"/>
                  <a:pt x="407816" y="91368"/>
                  <a:pt x="407816" y="203908"/>
                </a:cubicBezTo>
                <a:lnTo>
                  <a:pt x="407816" y="203908"/>
                </a:lnTo>
                <a:cubicBezTo>
                  <a:pt x="407816" y="316448"/>
                  <a:pt x="316448" y="407816"/>
                  <a:pt x="203908" y="407816"/>
                </a:cubicBezTo>
                <a:lnTo>
                  <a:pt x="203908" y="407816"/>
                </a:lnTo>
                <a:cubicBezTo>
                  <a:pt x="91368" y="407816"/>
                  <a:pt x="0" y="316448"/>
                  <a:pt x="0" y="203908"/>
                </a:cubicBezTo>
                <a:lnTo>
                  <a:pt x="0" y="203908"/>
                </a:lnTo>
                <a:cubicBezTo>
                  <a:pt x="0" y="91368"/>
                  <a:pt x="91368" y="0"/>
                  <a:pt x="203908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8" name="Text 15"/>
          <p:cNvSpPr/>
          <p:nvPr/>
        </p:nvSpPr>
        <p:spPr>
          <a:xfrm>
            <a:off x="7692430" y="2844519"/>
            <a:ext cx="492778" cy="40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78666" y="2827527"/>
            <a:ext cx="2863208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78666" y="3065420"/>
            <a:ext cx="2854712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388 job mentions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198374" y="2912489"/>
            <a:ext cx="509770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3A5F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99%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32957" y="3473236"/>
            <a:ext cx="4069664" cy="645709"/>
          </a:xfrm>
          <a:custGeom>
            <a:avLst/>
            <a:gdLst/>
            <a:ahLst/>
            <a:cxnLst/>
            <a:rect l="l" t="t" r="r" b="b"/>
            <a:pathLst>
              <a:path w="4069664" h="645709">
                <a:moveTo>
                  <a:pt x="67967" y="0"/>
                </a:moveTo>
                <a:lnTo>
                  <a:pt x="4001697" y="0"/>
                </a:lnTo>
                <a:cubicBezTo>
                  <a:pt x="4039234" y="0"/>
                  <a:pt x="4069664" y="30430"/>
                  <a:pt x="4069664" y="67967"/>
                </a:cubicBezTo>
                <a:lnTo>
                  <a:pt x="4069664" y="577741"/>
                </a:lnTo>
                <a:cubicBezTo>
                  <a:pt x="4069664" y="615279"/>
                  <a:pt x="4039234" y="645709"/>
                  <a:pt x="4001697" y="645709"/>
                </a:cubicBezTo>
                <a:lnTo>
                  <a:pt x="67967" y="645709"/>
                </a:lnTo>
                <a:cubicBezTo>
                  <a:pt x="30430" y="645709"/>
                  <a:pt x="0" y="615279"/>
                  <a:pt x="0" y="577741"/>
                </a:cubicBezTo>
                <a:lnTo>
                  <a:pt x="0" y="67967"/>
                </a:lnTo>
                <a:cubicBezTo>
                  <a:pt x="0" y="30455"/>
                  <a:pt x="30455" y="0"/>
                  <a:pt x="679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734911" y="3592182"/>
            <a:ext cx="407816" cy="407816"/>
          </a:xfrm>
          <a:custGeom>
            <a:avLst/>
            <a:gdLst/>
            <a:ahLst/>
            <a:cxnLst/>
            <a:rect l="l" t="t" r="r" b="b"/>
            <a:pathLst>
              <a:path w="407816" h="407816">
                <a:moveTo>
                  <a:pt x="203908" y="0"/>
                </a:moveTo>
                <a:lnTo>
                  <a:pt x="203908" y="0"/>
                </a:lnTo>
                <a:cubicBezTo>
                  <a:pt x="316448" y="0"/>
                  <a:pt x="407816" y="91368"/>
                  <a:pt x="407816" y="203908"/>
                </a:cubicBezTo>
                <a:lnTo>
                  <a:pt x="407816" y="203908"/>
                </a:lnTo>
                <a:cubicBezTo>
                  <a:pt x="407816" y="316448"/>
                  <a:pt x="316448" y="407816"/>
                  <a:pt x="203908" y="407816"/>
                </a:cubicBezTo>
                <a:lnTo>
                  <a:pt x="203908" y="407816"/>
                </a:lnTo>
                <a:cubicBezTo>
                  <a:pt x="91368" y="407816"/>
                  <a:pt x="0" y="316448"/>
                  <a:pt x="0" y="203908"/>
                </a:cubicBezTo>
                <a:lnTo>
                  <a:pt x="0" y="203908"/>
                </a:lnTo>
                <a:cubicBezTo>
                  <a:pt x="0" y="91368"/>
                  <a:pt x="91368" y="0"/>
                  <a:pt x="203908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4" name="Text 21"/>
          <p:cNvSpPr/>
          <p:nvPr/>
        </p:nvSpPr>
        <p:spPr>
          <a:xfrm>
            <a:off x="7692430" y="3592182"/>
            <a:ext cx="492778" cy="407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78666" y="3575190"/>
            <a:ext cx="2880201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78666" y="3813082"/>
            <a:ext cx="2871705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7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380 job mentions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214517" y="3660151"/>
            <a:ext cx="492778" cy="271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6" b="1" dirty="0">
                <a:solidFill>
                  <a:srgbClr val="6B7A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97%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493620" y="4367031"/>
            <a:ext cx="4348338" cy="2487678"/>
          </a:xfrm>
          <a:custGeom>
            <a:avLst/>
            <a:gdLst/>
            <a:ahLst/>
            <a:cxnLst/>
            <a:rect l="l" t="t" r="r" b="b"/>
            <a:pathLst>
              <a:path w="4348338" h="2487678">
                <a:moveTo>
                  <a:pt x="67963" y="0"/>
                </a:moveTo>
                <a:lnTo>
                  <a:pt x="4280375" y="0"/>
                </a:lnTo>
                <a:cubicBezTo>
                  <a:pt x="4317910" y="0"/>
                  <a:pt x="4348338" y="30428"/>
                  <a:pt x="4348338" y="67963"/>
                </a:cubicBezTo>
                <a:lnTo>
                  <a:pt x="4348338" y="2419714"/>
                </a:lnTo>
                <a:cubicBezTo>
                  <a:pt x="4348338" y="2457250"/>
                  <a:pt x="4317910" y="2487678"/>
                  <a:pt x="4280375" y="2487678"/>
                </a:cubicBezTo>
                <a:lnTo>
                  <a:pt x="67963" y="2487678"/>
                </a:lnTo>
                <a:cubicBezTo>
                  <a:pt x="30428" y="2487678"/>
                  <a:pt x="0" y="2457250"/>
                  <a:pt x="0" y="2419714"/>
                </a:cubicBezTo>
                <a:lnTo>
                  <a:pt x="0" y="67963"/>
                </a:lnTo>
                <a:cubicBezTo>
                  <a:pt x="0" y="30428"/>
                  <a:pt x="30428" y="0"/>
                  <a:pt x="67963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54197" y="4540351"/>
            <a:ext cx="169923" cy="169923"/>
          </a:xfrm>
          <a:custGeom>
            <a:avLst/>
            <a:gdLst/>
            <a:ahLst/>
            <a:cxnLst/>
            <a:rect l="l" t="t" r="r" b="b"/>
            <a:pathLst>
              <a:path w="169923" h="169923">
                <a:moveTo>
                  <a:pt x="77162" y="1726"/>
                </a:moveTo>
                <a:cubicBezTo>
                  <a:pt x="82107" y="-564"/>
                  <a:pt x="87816" y="-564"/>
                  <a:pt x="92761" y="1726"/>
                </a:cubicBezTo>
                <a:lnTo>
                  <a:pt x="165310" y="35246"/>
                </a:lnTo>
                <a:cubicBezTo>
                  <a:pt x="168131" y="36540"/>
                  <a:pt x="169923" y="39361"/>
                  <a:pt x="169923" y="42481"/>
                </a:cubicBezTo>
                <a:cubicBezTo>
                  <a:pt x="169923" y="45601"/>
                  <a:pt x="168131" y="48422"/>
                  <a:pt x="165310" y="49716"/>
                </a:cubicBezTo>
                <a:lnTo>
                  <a:pt x="92761" y="83236"/>
                </a:lnTo>
                <a:cubicBezTo>
                  <a:pt x="87816" y="85526"/>
                  <a:pt x="82107" y="85526"/>
                  <a:pt x="77162" y="83236"/>
                </a:cubicBezTo>
                <a:lnTo>
                  <a:pt x="4613" y="49716"/>
                </a:lnTo>
                <a:cubicBezTo>
                  <a:pt x="1792" y="48388"/>
                  <a:pt x="0" y="45567"/>
                  <a:pt x="0" y="42481"/>
                </a:cubicBezTo>
                <a:cubicBezTo>
                  <a:pt x="0" y="39394"/>
                  <a:pt x="1792" y="36540"/>
                  <a:pt x="4613" y="35246"/>
                </a:cubicBezTo>
                <a:lnTo>
                  <a:pt x="77162" y="1726"/>
                </a:lnTo>
                <a:close/>
                <a:moveTo>
                  <a:pt x="15964" y="72483"/>
                </a:moveTo>
                <a:lnTo>
                  <a:pt x="70492" y="97673"/>
                </a:lnTo>
                <a:cubicBezTo>
                  <a:pt x="79685" y="101921"/>
                  <a:pt x="90272" y="101921"/>
                  <a:pt x="99465" y="97673"/>
                </a:cubicBezTo>
                <a:lnTo>
                  <a:pt x="153993" y="72483"/>
                </a:lnTo>
                <a:lnTo>
                  <a:pt x="165310" y="77727"/>
                </a:lnTo>
                <a:cubicBezTo>
                  <a:pt x="168131" y="79021"/>
                  <a:pt x="169923" y="81842"/>
                  <a:pt x="169923" y="84962"/>
                </a:cubicBezTo>
                <a:cubicBezTo>
                  <a:pt x="169923" y="88081"/>
                  <a:pt x="168131" y="90902"/>
                  <a:pt x="165310" y="92197"/>
                </a:cubicBezTo>
                <a:lnTo>
                  <a:pt x="92761" y="125717"/>
                </a:lnTo>
                <a:cubicBezTo>
                  <a:pt x="87816" y="128007"/>
                  <a:pt x="82107" y="128007"/>
                  <a:pt x="77162" y="125717"/>
                </a:cubicBezTo>
                <a:lnTo>
                  <a:pt x="4613" y="92197"/>
                </a:lnTo>
                <a:cubicBezTo>
                  <a:pt x="1792" y="90869"/>
                  <a:pt x="0" y="88048"/>
                  <a:pt x="0" y="84962"/>
                </a:cubicBezTo>
                <a:cubicBezTo>
                  <a:pt x="0" y="81875"/>
                  <a:pt x="1792" y="79021"/>
                  <a:pt x="4613" y="77727"/>
                </a:cubicBezTo>
                <a:lnTo>
                  <a:pt x="15930" y="72483"/>
                </a:lnTo>
                <a:close/>
                <a:moveTo>
                  <a:pt x="4613" y="120207"/>
                </a:moveTo>
                <a:lnTo>
                  <a:pt x="15930" y="114964"/>
                </a:lnTo>
                <a:lnTo>
                  <a:pt x="70458" y="140154"/>
                </a:lnTo>
                <a:cubicBezTo>
                  <a:pt x="79652" y="144402"/>
                  <a:pt x="90239" y="144402"/>
                  <a:pt x="99432" y="140154"/>
                </a:cubicBezTo>
                <a:lnTo>
                  <a:pt x="153960" y="114964"/>
                </a:lnTo>
                <a:lnTo>
                  <a:pt x="165277" y="120207"/>
                </a:lnTo>
                <a:cubicBezTo>
                  <a:pt x="168098" y="121502"/>
                  <a:pt x="169890" y="124323"/>
                  <a:pt x="169890" y="127443"/>
                </a:cubicBezTo>
                <a:cubicBezTo>
                  <a:pt x="169890" y="130562"/>
                  <a:pt x="168098" y="133383"/>
                  <a:pt x="165277" y="134678"/>
                </a:cubicBezTo>
                <a:lnTo>
                  <a:pt x="92728" y="168198"/>
                </a:lnTo>
                <a:cubicBezTo>
                  <a:pt x="87783" y="170488"/>
                  <a:pt x="82074" y="170488"/>
                  <a:pt x="77129" y="168198"/>
                </a:cubicBezTo>
                <a:lnTo>
                  <a:pt x="4613" y="134678"/>
                </a:lnTo>
                <a:cubicBezTo>
                  <a:pt x="1792" y="133350"/>
                  <a:pt x="0" y="130529"/>
                  <a:pt x="0" y="127443"/>
                </a:cubicBezTo>
                <a:cubicBezTo>
                  <a:pt x="0" y="124356"/>
                  <a:pt x="1792" y="121502"/>
                  <a:pt x="4613" y="120207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0" name="Text 27"/>
          <p:cNvSpPr/>
          <p:nvPr/>
        </p:nvSpPr>
        <p:spPr>
          <a:xfrm>
            <a:off x="7845361" y="4506366"/>
            <a:ext cx="3942222" cy="237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Categories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632957" y="4846213"/>
            <a:ext cx="1988103" cy="883601"/>
          </a:xfrm>
          <a:custGeom>
            <a:avLst/>
            <a:gdLst/>
            <a:ahLst/>
            <a:cxnLst/>
            <a:rect l="l" t="t" r="r" b="b"/>
            <a:pathLst>
              <a:path w="1988103" h="883601">
                <a:moveTo>
                  <a:pt x="67967" y="0"/>
                </a:moveTo>
                <a:lnTo>
                  <a:pt x="1920137" y="0"/>
                </a:lnTo>
                <a:cubicBezTo>
                  <a:pt x="1957673" y="0"/>
                  <a:pt x="1988103" y="30430"/>
                  <a:pt x="1988103" y="67967"/>
                </a:cubicBezTo>
                <a:lnTo>
                  <a:pt x="1988103" y="815635"/>
                </a:lnTo>
                <a:cubicBezTo>
                  <a:pt x="1988103" y="853172"/>
                  <a:pt x="1957673" y="883601"/>
                  <a:pt x="1920137" y="883601"/>
                </a:cubicBezTo>
                <a:lnTo>
                  <a:pt x="67967" y="883601"/>
                </a:lnTo>
                <a:cubicBezTo>
                  <a:pt x="30430" y="883601"/>
                  <a:pt x="0" y="853172"/>
                  <a:pt x="0" y="815635"/>
                </a:cubicBezTo>
                <a:lnTo>
                  <a:pt x="0" y="67967"/>
                </a:lnTo>
                <a:cubicBezTo>
                  <a:pt x="0" y="30455"/>
                  <a:pt x="30455" y="0"/>
                  <a:pt x="679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523886" y="4948167"/>
            <a:ext cx="203908" cy="203908"/>
          </a:xfrm>
          <a:custGeom>
            <a:avLst/>
            <a:gdLst/>
            <a:ahLst/>
            <a:cxnLst/>
            <a:rect l="l" t="t" r="r" b="b"/>
            <a:pathLst>
              <a:path w="203908" h="203908">
                <a:moveTo>
                  <a:pt x="47791" y="22302"/>
                </a:moveTo>
                <a:cubicBezTo>
                  <a:pt x="47791" y="9996"/>
                  <a:pt x="57787" y="0"/>
                  <a:pt x="70093" y="0"/>
                </a:cubicBezTo>
                <a:lnTo>
                  <a:pt x="79652" y="0"/>
                </a:lnTo>
                <a:cubicBezTo>
                  <a:pt x="86701" y="0"/>
                  <a:pt x="92396" y="5695"/>
                  <a:pt x="92396" y="12744"/>
                </a:cubicBezTo>
                <a:lnTo>
                  <a:pt x="92396" y="191164"/>
                </a:lnTo>
                <a:cubicBezTo>
                  <a:pt x="92396" y="198213"/>
                  <a:pt x="86701" y="203908"/>
                  <a:pt x="79652" y="203908"/>
                </a:cubicBezTo>
                <a:lnTo>
                  <a:pt x="66907" y="203908"/>
                </a:lnTo>
                <a:cubicBezTo>
                  <a:pt x="55039" y="203908"/>
                  <a:pt x="45043" y="195784"/>
                  <a:pt x="42215" y="184792"/>
                </a:cubicBezTo>
                <a:cubicBezTo>
                  <a:pt x="41937" y="184792"/>
                  <a:pt x="41698" y="184792"/>
                  <a:pt x="41419" y="184792"/>
                </a:cubicBezTo>
                <a:cubicBezTo>
                  <a:pt x="23816" y="184792"/>
                  <a:pt x="9558" y="170534"/>
                  <a:pt x="9558" y="152931"/>
                </a:cubicBezTo>
                <a:cubicBezTo>
                  <a:pt x="9558" y="145762"/>
                  <a:pt x="11948" y="139151"/>
                  <a:pt x="15930" y="133815"/>
                </a:cubicBezTo>
                <a:cubicBezTo>
                  <a:pt x="8204" y="128000"/>
                  <a:pt x="3186" y="118760"/>
                  <a:pt x="3186" y="108326"/>
                </a:cubicBezTo>
                <a:cubicBezTo>
                  <a:pt x="3186" y="96020"/>
                  <a:pt x="10195" y="85307"/>
                  <a:pt x="20391" y="80010"/>
                </a:cubicBezTo>
                <a:cubicBezTo>
                  <a:pt x="17563" y="75231"/>
                  <a:pt x="15930" y="69655"/>
                  <a:pt x="15930" y="63721"/>
                </a:cubicBezTo>
                <a:cubicBezTo>
                  <a:pt x="15930" y="46118"/>
                  <a:pt x="30188" y="31861"/>
                  <a:pt x="47791" y="31861"/>
                </a:cubicBezTo>
                <a:lnTo>
                  <a:pt x="47791" y="22302"/>
                </a:lnTo>
                <a:close/>
                <a:moveTo>
                  <a:pt x="156117" y="22302"/>
                </a:moveTo>
                <a:lnTo>
                  <a:pt x="156117" y="31861"/>
                </a:lnTo>
                <a:cubicBezTo>
                  <a:pt x="173720" y="31861"/>
                  <a:pt x="187978" y="46118"/>
                  <a:pt x="187978" y="63721"/>
                </a:cubicBezTo>
                <a:cubicBezTo>
                  <a:pt x="187978" y="69695"/>
                  <a:pt x="186345" y="75271"/>
                  <a:pt x="183517" y="80010"/>
                </a:cubicBezTo>
                <a:cubicBezTo>
                  <a:pt x="193752" y="85307"/>
                  <a:pt x="200722" y="95980"/>
                  <a:pt x="200722" y="108326"/>
                </a:cubicBezTo>
                <a:cubicBezTo>
                  <a:pt x="200722" y="118760"/>
                  <a:pt x="195704" y="128000"/>
                  <a:pt x="187978" y="133815"/>
                </a:cubicBezTo>
                <a:cubicBezTo>
                  <a:pt x="191960" y="139151"/>
                  <a:pt x="194350" y="145762"/>
                  <a:pt x="194350" y="152931"/>
                </a:cubicBezTo>
                <a:cubicBezTo>
                  <a:pt x="194350" y="170534"/>
                  <a:pt x="180092" y="184792"/>
                  <a:pt x="162489" y="184792"/>
                </a:cubicBezTo>
                <a:cubicBezTo>
                  <a:pt x="162210" y="184792"/>
                  <a:pt x="161971" y="184792"/>
                  <a:pt x="161693" y="184792"/>
                </a:cubicBezTo>
                <a:cubicBezTo>
                  <a:pt x="158865" y="195784"/>
                  <a:pt x="148869" y="203908"/>
                  <a:pt x="137001" y="203908"/>
                </a:cubicBezTo>
                <a:lnTo>
                  <a:pt x="124256" y="203908"/>
                </a:lnTo>
                <a:cubicBezTo>
                  <a:pt x="117207" y="203908"/>
                  <a:pt x="111512" y="198213"/>
                  <a:pt x="111512" y="191164"/>
                </a:cubicBezTo>
                <a:lnTo>
                  <a:pt x="111512" y="12744"/>
                </a:lnTo>
                <a:cubicBezTo>
                  <a:pt x="111512" y="5695"/>
                  <a:pt x="117207" y="0"/>
                  <a:pt x="124256" y="0"/>
                </a:cubicBezTo>
                <a:lnTo>
                  <a:pt x="133815" y="0"/>
                </a:lnTo>
                <a:cubicBezTo>
                  <a:pt x="146121" y="0"/>
                  <a:pt x="156117" y="9996"/>
                  <a:pt x="156117" y="22302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33" name="Text 30"/>
          <p:cNvSpPr/>
          <p:nvPr/>
        </p:nvSpPr>
        <p:spPr>
          <a:xfrm>
            <a:off x="7700926" y="5220044"/>
            <a:ext cx="185216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7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700926" y="5423952"/>
            <a:ext cx="185216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7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Python, SQL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720677" y="4846213"/>
            <a:ext cx="1988103" cy="883601"/>
          </a:xfrm>
          <a:custGeom>
            <a:avLst/>
            <a:gdLst/>
            <a:ahLst/>
            <a:cxnLst/>
            <a:rect l="l" t="t" r="r" b="b"/>
            <a:pathLst>
              <a:path w="1988103" h="883601">
                <a:moveTo>
                  <a:pt x="67967" y="0"/>
                </a:moveTo>
                <a:lnTo>
                  <a:pt x="1920137" y="0"/>
                </a:lnTo>
                <a:cubicBezTo>
                  <a:pt x="1957673" y="0"/>
                  <a:pt x="1988103" y="30430"/>
                  <a:pt x="1988103" y="67967"/>
                </a:cubicBezTo>
                <a:lnTo>
                  <a:pt x="1988103" y="815635"/>
                </a:lnTo>
                <a:cubicBezTo>
                  <a:pt x="1988103" y="853172"/>
                  <a:pt x="1957673" y="883601"/>
                  <a:pt x="1920137" y="883601"/>
                </a:cubicBezTo>
                <a:lnTo>
                  <a:pt x="67967" y="883601"/>
                </a:lnTo>
                <a:cubicBezTo>
                  <a:pt x="30430" y="883601"/>
                  <a:pt x="0" y="853172"/>
                  <a:pt x="0" y="815635"/>
                </a:cubicBezTo>
                <a:lnTo>
                  <a:pt x="0" y="67967"/>
                </a:lnTo>
                <a:cubicBezTo>
                  <a:pt x="0" y="30455"/>
                  <a:pt x="30455" y="0"/>
                  <a:pt x="679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0598863" y="4948167"/>
            <a:ext cx="229397" cy="203908"/>
          </a:xfrm>
          <a:custGeom>
            <a:avLst/>
            <a:gdLst/>
            <a:ahLst/>
            <a:cxnLst/>
            <a:rect l="l" t="t" r="r" b="b"/>
            <a:pathLst>
              <a:path w="229397" h="203908">
                <a:moveTo>
                  <a:pt x="204067" y="95582"/>
                </a:moveTo>
                <a:lnTo>
                  <a:pt x="133974" y="95582"/>
                </a:lnTo>
                <a:cubicBezTo>
                  <a:pt x="126925" y="95582"/>
                  <a:pt x="121230" y="89887"/>
                  <a:pt x="121230" y="82838"/>
                </a:cubicBezTo>
                <a:lnTo>
                  <a:pt x="121230" y="12744"/>
                </a:lnTo>
                <a:cubicBezTo>
                  <a:pt x="121230" y="5695"/>
                  <a:pt x="126965" y="-80"/>
                  <a:pt x="133934" y="836"/>
                </a:cubicBezTo>
                <a:cubicBezTo>
                  <a:pt x="176548" y="6492"/>
                  <a:pt x="210320" y="40264"/>
                  <a:pt x="215975" y="82877"/>
                </a:cubicBezTo>
                <a:cubicBezTo>
                  <a:pt x="216891" y="89847"/>
                  <a:pt x="211116" y="95582"/>
                  <a:pt x="204067" y="95582"/>
                </a:cubicBezTo>
                <a:close/>
                <a:moveTo>
                  <a:pt x="88652" y="14815"/>
                </a:moveTo>
                <a:cubicBezTo>
                  <a:pt x="95861" y="13302"/>
                  <a:pt x="102113" y="19196"/>
                  <a:pt x="102113" y="26564"/>
                </a:cubicBezTo>
                <a:lnTo>
                  <a:pt x="102113" y="105140"/>
                </a:lnTo>
                <a:cubicBezTo>
                  <a:pt x="102113" y="107370"/>
                  <a:pt x="102910" y="109521"/>
                  <a:pt x="104304" y="111233"/>
                </a:cubicBezTo>
                <a:lnTo>
                  <a:pt x="156914" y="174716"/>
                </a:lnTo>
                <a:cubicBezTo>
                  <a:pt x="161573" y="180331"/>
                  <a:pt x="160578" y="188814"/>
                  <a:pt x="154166" y="192279"/>
                </a:cubicBezTo>
                <a:cubicBezTo>
                  <a:pt x="140585" y="199686"/>
                  <a:pt x="125013" y="203908"/>
                  <a:pt x="108485" y="203908"/>
                </a:cubicBezTo>
                <a:cubicBezTo>
                  <a:pt x="55716" y="203908"/>
                  <a:pt x="12904" y="161095"/>
                  <a:pt x="12904" y="108326"/>
                </a:cubicBezTo>
                <a:cubicBezTo>
                  <a:pt x="12904" y="62327"/>
                  <a:pt x="45362" y="23935"/>
                  <a:pt x="88652" y="14815"/>
                </a:cubicBezTo>
                <a:close/>
                <a:moveTo>
                  <a:pt x="190288" y="114698"/>
                </a:moveTo>
                <a:lnTo>
                  <a:pt x="215776" y="114698"/>
                </a:lnTo>
                <a:cubicBezTo>
                  <a:pt x="223144" y="114698"/>
                  <a:pt x="229038" y="120951"/>
                  <a:pt x="227525" y="128159"/>
                </a:cubicBezTo>
                <a:cubicBezTo>
                  <a:pt x="223462" y="147435"/>
                  <a:pt x="213586" y="164560"/>
                  <a:pt x="199806" y="177623"/>
                </a:cubicBezTo>
                <a:cubicBezTo>
                  <a:pt x="194907" y="182283"/>
                  <a:pt x="187221" y="181287"/>
                  <a:pt x="182920" y="176070"/>
                </a:cubicBezTo>
                <a:lnTo>
                  <a:pt x="149307" y="135567"/>
                </a:lnTo>
                <a:cubicBezTo>
                  <a:pt x="142417" y="127243"/>
                  <a:pt x="148351" y="114698"/>
                  <a:pt x="159104" y="114698"/>
                </a:cubicBezTo>
                <a:lnTo>
                  <a:pt x="190248" y="114698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37" name="Text 34"/>
          <p:cNvSpPr/>
          <p:nvPr/>
        </p:nvSpPr>
        <p:spPr>
          <a:xfrm>
            <a:off x="9788647" y="5220044"/>
            <a:ext cx="185216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7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788647" y="5423952"/>
            <a:ext cx="185216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7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Excel, Tableau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632957" y="5831768"/>
            <a:ext cx="1988103" cy="883601"/>
          </a:xfrm>
          <a:custGeom>
            <a:avLst/>
            <a:gdLst/>
            <a:ahLst/>
            <a:cxnLst/>
            <a:rect l="l" t="t" r="r" b="b"/>
            <a:pathLst>
              <a:path w="1988103" h="883601">
                <a:moveTo>
                  <a:pt x="67967" y="0"/>
                </a:moveTo>
                <a:lnTo>
                  <a:pt x="1920137" y="0"/>
                </a:lnTo>
                <a:cubicBezTo>
                  <a:pt x="1957673" y="0"/>
                  <a:pt x="1988103" y="30430"/>
                  <a:pt x="1988103" y="67967"/>
                </a:cubicBezTo>
                <a:lnTo>
                  <a:pt x="1988103" y="815635"/>
                </a:lnTo>
                <a:cubicBezTo>
                  <a:pt x="1988103" y="853172"/>
                  <a:pt x="1957673" y="883601"/>
                  <a:pt x="1920137" y="883601"/>
                </a:cubicBezTo>
                <a:lnTo>
                  <a:pt x="67967" y="883601"/>
                </a:lnTo>
                <a:cubicBezTo>
                  <a:pt x="30430" y="883601"/>
                  <a:pt x="0" y="853172"/>
                  <a:pt x="0" y="815635"/>
                </a:cubicBezTo>
                <a:lnTo>
                  <a:pt x="0" y="67967"/>
                </a:lnTo>
                <a:cubicBezTo>
                  <a:pt x="0" y="30455"/>
                  <a:pt x="30455" y="0"/>
                  <a:pt x="679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8511142" y="5933722"/>
            <a:ext cx="229397" cy="203908"/>
          </a:xfrm>
          <a:custGeom>
            <a:avLst/>
            <a:gdLst/>
            <a:ahLst/>
            <a:cxnLst/>
            <a:rect l="l" t="t" r="r" b="b"/>
            <a:pathLst>
              <a:path w="229397" h="203908">
                <a:moveTo>
                  <a:pt x="0" y="133815"/>
                </a:moveTo>
                <a:cubicBezTo>
                  <a:pt x="0" y="165476"/>
                  <a:pt x="25688" y="191164"/>
                  <a:pt x="57349" y="191164"/>
                </a:cubicBezTo>
                <a:lnTo>
                  <a:pt x="178420" y="191164"/>
                </a:lnTo>
                <a:cubicBezTo>
                  <a:pt x="206576" y="191164"/>
                  <a:pt x="229397" y="168344"/>
                  <a:pt x="229397" y="140187"/>
                </a:cubicBezTo>
                <a:cubicBezTo>
                  <a:pt x="229397" y="119637"/>
                  <a:pt x="217250" y="101914"/>
                  <a:pt x="199726" y="93869"/>
                </a:cubicBezTo>
                <a:cubicBezTo>
                  <a:pt x="202395" y="88652"/>
                  <a:pt x="203908" y="82718"/>
                  <a:pt x="203908" y="76466"/>
                </a:cubicBezTo>
                <a:cubicBezTo>
                  <a:pt x="203908" y="55358"/>
                  <a:pt x="186783" y="38233"/>
                  <a:pt x="165675" y="38233"/>
                </a:cubicBezTo>
                <a:cubicBezTo>
                  <a:pt x="158626" y="38233"/>
                  <a:pt x="152055" y="40144"/>
                  <a:pt x="146400" y="43450"/>
                </a:cubicBezTo>
                <a:cubicBezTo>
                  <a:pt x="136802" y="25210"/>
                  <a:pt x="117645" y="12744"/>
                  <a:pt x="95582" y="12744"/>
                </a:cubicBezTo>
                <a:cubicBezTo>
                  <a:pt x="63920" y="12744"/>
                  <a:pt x="38233" y="38432"/>
                  <a:pt x="38233" y="70093"/>
                </a:cubicBezTo>
                <a:cubicBezTo>
                  <a:pt x="38233" y="73279"/>
                  <a:pt x="38512" y="76426"/>
                  <a:pt x="38989" y="79452"/>
                </a:cubicBezTo>
                <a:cubicBezTo>
                  <a:pt x="16329" y="87099"/>
                  <a:pt x="0" y="108565"/>
                  <a:pt x="0" y="133815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41" name="Text 38"/>
          <p:cNvSpPr/>
          <p:nvPr/>
        </p:nvSpPr>
        <p:spPr>
          <a:xfrm>
            <a:off x="7700926" y="6205600"/>
            <a:ext cx="185216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7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700926" y="6409508"/>
            <a:ext cx="185216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7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AWS, Spark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9720677" y="5831768"/>
            <a:ext cx="1988103" cy="883601"/>
          </a:xfrm>
          <a:custGeom>
            <a:avLst/>
            <a:gdLst/>
            <a:ahLst/>
            <a:cxnLst/>
            <a:rect l="l" t="t" r="r" b="b"/>
            <a:pathLst>
              <a:path w="1988103" h="883601">
                <a:moveTo>
                  <a:pt x="67967" y="0"/>
                </a:moveTo>
                <a:lnTo>
                  <a:pt x="1920137" y="0"/>
                </a:lnTo>
                <a:cubicBezTo>
                  <a:pt x="1957673" y="0"/>
                  <a:pt x="1988103" y="30430"/>
                  <a:pt x="1988103" y="67967"/>
                </a:cubicBezTo>
                <a:lnTo>
                  <a:pt x="1988103" y="815635"/>
                </a:lnTo>
                <a:cubicBezTo>
                  <a:pt x="1988103" y="853172"/>
                  <a:pt x="1957673" y="883601"/>
                  <a:pt x="1920137" y="883601"/>
                </a:cubicBezTo>
                <a:lnTo>
                  <a:pt x="67967" y="883601"/>
                </a:lnTo>
                <a:cubicBezTo>
                  <a:pt x="30430" y="883601"/>
                  <a:pt x="0" y="853172"/>
                  <a:pt x="0" y="815635"/>
                </a:cubicBezTo>
                <a:lnTo>
                  <a:pt x="0" y="67967"/>
                </a:lnTo>
                <a:cubicBezTo>
                  <a:pt x="0" y="30455"/>
                  <a:pt x="30455" y="0"/>
                  <a:pt x="6796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10611607" y="5933722"/>
            <a:ext cx="203908" cy="203908"/>
          </a:xfrm>
          <a:custGeom>
            <a:avLst/>
            <a:gdLst/>
            <a:ahLst/>
            <a:cxnLst/>
            <a:rect l="l" t="t" r="r" b="b"/>
            <a:pathLst>
              <a:path w="203908" h="203908">
                <a:moveTo>
                  <a:pt x="12744" y="12744"/>
                </a:moveTo>
                <a:cubicBezTo>
                  <a:pt x="19793" y="12744"/>
                  <a:pt x="25489" y="18439"/>
                  <a:pt x="25489" y="25489"/>
                </a:cubicBezTo>
                <a:lnTo>
                  <a:pt x="25489" y="159303"/>
                </a:lnTo>
                <a:cubicBezTo>
                  <a:pt x="25489" y="162808"/>
                  <a:pt x="28356" y="165675"/>
                  <a:pt x="31861" y="165675"/>
                </a:cubicBezTo>
                <a:lnTo>
                  <a:pt x="191164" y="165675"/>
                </a:lnTo>
                <a:cubicBezTo>
                  <a:pt x="198213" y="165675"/>
                  <a:pt x="203908" y="171370"/>
                  <a:pt x="203908" y="178420"/>
                </a:cubicBezTo>
                <a:cubicBezTo>
                  <a:pt x="203908" y="185469"/>
                  <a:pt x="198213" y="191164"/>
                  <a:pt x="191164" y="191164"/>
                </a:cubicBezTo>
                <a:lnTo>
                  <a:pt x="31861" y="191164"/>
                </a:lnTo>
                <a:cubicBezTo>
                  <a:pt x="14258" y="191164"/>
                  <a:pt x="0" y="176906"/>
                  <a:pt x="0" y="159303"/>
                </a:cubicBezTo>
                <a:lnTo>
                  <a:pt x="0" y="25489"/>
                </a:lnTo>
                <a:cubicBezTo>
                  <a:pt x="0" y="18439"/>
                  <a:pt x="5695" y="12744"/>
                  <a:pt x="12744" y="12744"/>
                </a:cubicBezTo>
                <a:close/>
                <a:moveTo>
                  <a:pt x="50977" y="38233"/>
                </a:moveTo>
                <a:cubicBezTo>
                  <a:pt x="50977" y="31184"/>
                  <a:pt x="56672" y="25489"/>
                  <a:pt x="63721" y="25489"/>
                </a:cubicBezTo>
                <a:lnTo>
                  <a:pt x="140187" y="25489"/>
                </a:lnTo>
                <a:cubicBezTo>
                  <a:pt x="147236" y="25489"/>
                  <a:pt x="152931" y="31184"/>
                  <a:pt x="152931" y="38233"/>
                </a:cubicBezTo>
                <a:cubicBezTo>
                  <a:pt x="152931" y="45282"/>
                  <a:pt x="147236" y="50977"/>
                  <a:pt x="140187" y="50977"/>
                </a:cubicBezTo>
                <a:lnTo>
                  <a:pt x="63721" y="50977"/>
                </a:lnTo>
                <a:cubicBezTo>
                  <a:pt x="56672" y="50977"/>
                  <a:pt x="50977" y="45282"/>
                  <a:pt x="50977" y="38233"/>
                </a:cubicBezTo>
                <a:close/>
                <a:moveTo>
                  <a:pt x="63721" y="70093"/>
                </a:moveTo>
                <a:lnTo>
                  <a:pt x="114698" y="70093"/>
                </a:lnTo>
                <a:cubicBezTo>
                  <a:pt x="121747" y="70093"/>
                  <a:pt x="127443" y="75788"/>
                  <a:pt x="127443" y="82838"/>
                </a:cubicBezTo>
                <a:cubicBezTo>
                  <a:pt x="127443" y="89887"/>
                  <a:pt x="121747" y="95582"/>
                  <a:pt x="114698" y="95582"/>
                </a:cubicBezTo>
                <a:lnTo>
                  <a:pt x="63721" y="95582"/>
                </a:lnTo>
                <a:cubicBezTo>
                  <a:pt x="56672" y="95582"/>
                  <a:pt x="50977" y="89887"/>
                  <a:pt x="50977" y="82838"/>
                </a:cubicBezTo>
                <a:cubicBezTo>
                  <a:pt x="50977" y="75788"/>
                  <a:pt x="56672" y="70093"/>
                  <a:pt x="63721" y="70093"/>
                </a:cubicBezTo>
                <a:close/>
                <a:moveTo>
                  <a:pt x="63721" y="114698"/>
                </a:moveTo>
                <a:lnTo>
                  <a:pt x="165675" y="114698"/>
                </a:lnTo>
                <a:cubicBezTo>
                  <a:pt x="172724" y="114698"/>
                  <a:pt x="178420" y="120393"/>
                  <a:pt x="178420" y="127443"/>
                </a:cubicBezTo>
                <a:cubicBezTo>
                  <a:pt x="178420" y="134492"/>
                  <a:pt x="172724" y="140187"/>
                  <a:pt x="165675" y="140187"/>
                </a:cubicBezTo>
                <a:lnTo>
                  <a:pt x="63721" y="140187"/>
                </a:lnTo>
                <a:cubicBezTo>
                  <a:pt x="56672" y="140187"/>
                  <a:pt x="50977" y="134492"/>
                  <a:pt x="50977" y="127443"/>
                </a:cubicBezTo>
                <a:cubicBezTo>
                  <a:pt x="50977" y="120393"/>
                  <a:pt x="56672" y="114698"/>
                  <a:pt x="63721" y="114698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45" name="Text 42"/>
          <p:cNvSpPr/>
          <p:nvPr/>
        </p:nvSpPr>
        <p:spPr>
          <a:xfrm>
            <a:off x="9788647" y="6205600"/>
            <a:ext cx="185216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7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788647" y="6409508"/>
            <a:ext cx="1852164" cy="203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7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Role-Specific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Skill Demand by Role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1047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competency patterns across different data professions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397000"/>
            <a:ext cx="7524750" cy="6484938"/>
          </a:xfrm>
          <a:custGeom>
            <a:avLst/>
            <a:gdLst/>
            <a:ahLst/>
            <a:cxnLst/>
            <a:rect l="l" t="t" r="r" b="b"/>
            <a:pathLst>
              <a:path w="7524750" h="6484938">
                <a:moveTo>
                  <a:pt x="95264" y="0"/>
                </a:moveTo>
                <a:lnTo>
                  <a:pt x="7429486" y="0"/>
                </a:lnTo>
                <a:cubicBezTo>
                  <a:pt x="7482099" y="0"/>
                  <a:pt x="7524750" y="42651"/>
                  <a:pt x="7524750" y="95264"/>
                </a:cubicBezTo>
                <a:lnTo>
                  <a:pt x="7524750" y="6389674"/>
                </a:lnTo>
                <a:cubicBezTo>
                  <a:pt x="7524750" y="6442286"/>
                  <a:pt x="7482099" y="6484937"/>
                  <a:pt x="7429486" y="6484938"/>
                </a:cubicBezTo>
                <a:lnTo>
                  <a:pt x="95264" y="6484938"/>
                </a:lnTo>
                <a:cubicBezTo>
                  <a:pt x="42651" y="6484938"/>
                  <a:pt x="0" y="6442286"/>
                  <a:pt x="0" y="6389674"/>
                </a:cubicBezTo>
                <a:lnTo>
                  <a:pt x="0" y="95264"/>
                </a:lnTo>
                <a:cubicBezTo>
                  <a:pt x="0" y="42686"/>
                  <a:pt x="42686" y="0"/>
                  <a:pt x="95264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pic>
        <p:nvPicPr>
          <p:cNvPr id="6" name="Image 0" descr="https://kimi-img.moonshot.cn/pub/slides/26-03-12-15:07:15-d6p6c8ptoom1a8c8ch0g.png">    </p:cNvPr>
          <p:cNvPicPr>
            <a:picLocks noChangeAspect="1"/>
          </p:cNvPicPr>
          <p:nvPr/>
        </p:nvPicPr>
        <p:blipFill>
          <a:blip r:embed="rId1"/>
          <a:srcRect l="0" r="0" t="1" b="1"/>
          <a:stretch/>
        </p:blipFill>
        <p:spPr>
          <a:xfrm>
            <a:off x="508000" y="1587500"/>
            <a:ext cx="5818188" cy="6103938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8032750" y="1400175"/>
            <a:ext cx="3840162" cy="2022475"/>
          </a:xfrm>
          <a:custGeom>
            <a:avLst/>
            <a:gdLst/>
            <a:ahLst/>
            <a:cxnLst/>
            <a:rect l="l" t="t" r="r" b="b"/>
            <a:pathLst>
              <a:path w="3840162" h="2022475">
                <a:moveTo>
                  <a:pt x="63506" y="0"/>
                </a:moveTo>
                <a:lnTo>
                  <a:pt x="3776657" y="0"/>
                </a:lnTo>
                <a:cubicBezTo>
                  <a:pt x="3811730" y="0"/>
                  <a:pt x="3840162" y="28432"/>
                  <a:pt x="3840162" y="63506"/>
                </a:cubicBezTo>
                <a:lnTo>
                  <a:pt x="3840162" y="1958969"/>
                </a:lnTo>
                <a:cubicBezTo>
                  <a:pt x="3840163" y="1994043"/>
                  <a:pt x="3811730" y="2022475"/>
                  <a:pt x="3776657" y="2022475"/>
                </a:cubicBezTo>
                <a:lnTo>
                  <a:pt x="63506" y="2022475"/>
                </a:lnTo>
                <a:cubicBezTo>
                  <a:pt x="28432" y="2022475"/>
                  <a:pt x="0" y="1994043"/>
                  <a:pt x="0" y="1958969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D85D3C">
              <a:alpha val="14902"/>
            </a:srgbClr>
          </a:solidFill>
          <a:ln w="10160">
            <a:solidFill>
              <a:srgbClr val="D85D3C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92691" y="156210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4817" y="-4031"/>
                </a:moveTo>
                <a:cubicBezTo>
                  <a:pt x="71282" y="-4744"/>
                  <a:pt x="67655" y="-4744"/>
                  <a:pt x="64120" y="-4031"/>
                </a:cubicBezTo>
                <a:lnTo>
                  <a:pt x="5984" y="7596"/>
                </a:lnTo>
                <a:cubicBezTo>
                  <a:pt x="2511" y="8279"/>
                  <a:pt x="0" y="11348"/>
                  <a:pt x="0" y="14883"/>
                </a:cubicBezTo>
                <a:cubicBezTo>
                  <a:pt x="0" y="18076"/>
                  <a:pt x="2015" y="20867"/>
                  <a:pt x="4961" y="21890"/>
                </a:cubicBezTo>
                <a:lnTo>
                  <a:pt x="4961" y="44648"/>
                </a:lnTo>
                <a:lnTo>
                  <a:pt x="93" y="69019"/>
                </a:lnTo>
                <a:cubicBezTo>
                  <a:pt x="31" y="69298"/>
                  <a:pt x="0" y="69608"/>
                  <a:pt x="0" y="69918"/>
                </a:cubicBezTo>
                <a:cubicBezTo>
                  <a:pt x="0" y="72399"/>
                  <a:pt x="2015" y="74445"/>
                  <a:pt x="4527" y="74445"/>
                </a:cubicBezTo>
                <a:lnTo>
                  <a:pt x="15348" y="74445"/>
                </a:lnTo>
                <a:cubicBezTo>
                  <a:pt x="17828" y="74445"/>
                  <a:pt x="19875" y="72430"/>
                  <a:pt x="19875" y="69918"/>
                </a:cubicBezTo>
                <a:cubicBezTo>
                  <a:pt x="19875" y="69608"/>
                  <a:pt x="19844" y="69329"/>
                  <a:pt x="19782" y="69019"/>
                </a:cubicBezTo>
                <a:lnTo>
                  <a:pt x="14883" y="44648"/>
                </a:lnTo>
                <a:lnTo>
                  <a:pt x="14883" y="23968"/>
                </a:lnTo>
                <a:lnTo>
                  <a:pt x="29766" y="26944"/>
                </a:lnTo>
                <a:lnTo>
                  <a:pt x="29766" y="44648"/>
                </a:lnTo>
                <a:cubicBezTo>
                  <a:pt x="29766" y="66570"/>
                  <a:pt x="47532" y="84336"/>
                  <a:pt x="69453" y="84336"/>
                </a:cubicBezTo>
                <a:cubicBezTo>
                  <a:pt x="91374" y="84336"/>
                  <a:pt x="109141" y="66570"/>
                  <a:pt x="109141" y="44648"/>
                </a:cubicBezTo>
                <a:lnTo>
                  <a:pt x="109141" y="26944"/>
                </a:lnTo>
                <a:lnTo>
                  <a:pt x="132922" y="22200"/>
                </a:lnTo>
                <a:cubicBezTo>
                  <a:pt x="136395" y="21487"/>
                  <a:pt x="138906" y="18417"/>
                  <a:pt x="138906" y="14883"/>
                </a:cubicBezTo>
                <a:cubicBezTo>
                  <a:pt x="138906" y="11348"/>
                  <a:pt x="136395" y="8279"/>
                  <a:pt x="132922" y="7596"/>
                </a:cubicBezTo>
                <a:lnTo>
                  <a:pt x="74817" y="-4031"/>
                </a:lnTo>
                <a:close/>
                <a:moveTo>
                  <a:pt x="69453" y="69453"/>
                </a:moveTo>
                <a:cubicBezTo>
                  <a:pt x="55749" y="69453"/>
                  <a:pt x="44648" y="58353"/>
                  <a:pt x="44648" y="44648"/>
                </a:cubicBezTo>
                <a:lnTo>
                  <a:pt x="94258" y="44648"/>
                </a:lnTo>
                <a:cubicBezTo>
                  <a:pt x="94258" y="58353"/>
                  <a:pt x="83158" y="69453"/>
                  <a:pt x="69453" y="69453"/>
                </a:cubicBezTo>
                <a:close/>
                <a:moveTo>
                  <a:pt x="37238" y="99250"/>
                </a:moveTo>
                <a:cubicBezTo>
                  <a:pt x="18200" y="107993"/>
                  <a:pt x="4961" y="127217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62012" y="158750"/>
                </a:lnTo>
                <a:lnTo>
                  <a:pt x="62012" y="113481"/>
                </a:lnTo>
                <a:lnTo>
                  <a:pt x="44214" y="100149"/>
                </a:lnTo>
                <a:cubicBezTo>
                  <a:pt x="42199" y="98630"/>
                  <a:pt x="39501" y="98227"/>
                  <a:pt x="37207" y="99281"/>
                </a:cubicBezTo>
                <a:close/>
                <a:moveTo>
                  <a:pt x="76895" y="158750"/>
                </a:move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27217"/>
                  <a:pt x="120706" y="107993"/>
                  <a:pt x="101668" y="99281"/>
                </a:cubicBezTo>
                <a:cubicBezTo>
                  <a:pt x="99374" y="98227"/>
                  <a:pt x="96676" y="98630"/>
                  <a:pt x="94661" y="100149"/>
                </a:cubicBezTo>
                <a:lnTo>
                  <a:pt x="76864" y="113481"/>
                </a:lnTo>
                <a:lnTo>
                  <a:pt x="76864" y="15875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9" name="Text 6"/>
          <p:cNvSpPr/>
          <p:nvPr/>
        </p:nvSpPr>
        <p:spPr>
          <a:xfrm>
            <a:off x="8361363" y="1530352"/>
            <a:ext cx="346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Scientist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62925" y="1847852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226425" y="1927227"/>
            <a:ext cx="44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02815" y="1911352"/>
            <a:ext cx="35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D85D3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240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62925" y="2260602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6425" y="2339977"/>
            <a:ext cx="29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443494" y="2324102"/>
            <a:ext cx="317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176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62925" y="2673352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226425" y="2752727"/>
            <a:ext cx="35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39029" y="2736852"/>
            <a:ext cx="317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155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62925" y="3086102"/>
            <a:ext cx="3643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Heavy emphasis on Python and statistical programming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32750" y="3524251"/>
            <a:ext cx="3840162" cy="2022475"/>
          </a:xfrm>
          <a:custGeom>
            <a:avLst/>
            <a:gdLst/>
            <a:ahLst/>
            <a:cxnLst/>
            <a:rect l="l" t="t" r="r" b="b"/>
            <a:pathLst>
              <a:path w="3840162" h="2022475">
                <a:moveTo>
                  <a:pt x="63506" y="0"/>
                </a:moveTo>
                <a:lnTo>
                  <a:pt x="3776657" y="0"/>
                </a:lnTo>
                <a:cubicBezTo>
                  <a:pt x="3811730" y="0"/>
                  <a:pt x="3840162" y="28432"/>
                  <a:pt x="3840162" y="63506"/>
                </a:cubicBezTo>
                <a:lnTo>
                  <a:pt x="3840162" y="1958969"/>
                </a:lnTo>
                <a:cubicBezTo>
                  <a:pt x="3840163" y="1994043"/>
                  <a:pt x="3811730" y="2022475"/>
                  <a:pt x="3776657" y="2022475"/>
                </a:cubicBezTo>
                <a:lnTo>
                  <a:pt x="63506" y="2022475"/>
                </a:lnTo>
                <a:cubicBezTo>
                  <a:pt x="28432" y="2022475"/>
                  <a:pt x="0" y="1994043"/>
                  <a:pt x="0" y="1958969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62925" y="3686174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22" name="Text 19"/>
          <p:cNvSpPr/>
          <p:nvPr/>
        </p:nvSpPr>
        <p:spPr>
          <a:xfrm>
            <a:off x="8361363" y="3654424"/>
            <a:ext cx="346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Engineer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62925" y="3971924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226425" y="4051299"/>
            <a:ext cx="29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504414" y="4035424"/>
            <a:ext cx="25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A5F7A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87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162925" y="4384674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8226425" y="4464049"/>
            <a:ext cx="44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517313" y="4448174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77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162925" y="4797424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226425" y="4876799"/>
            <a:ext cx="34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495980" y="4860924"/>
            <a:ext cx="2619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59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162925" y="5210174"/>
            <a:ext cx="3643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database and cloud infrastructure focus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032750" y="5648327"/>
            <a:ext cx="3840162" cy="2228850"/>
          </a:xfrm>
          <a:custGeom>
            <a:avLst/>
            <a:gdLst/>
            <a:ahLst/>
            <a:cxnLst/>
            <a:rect l="l" t="t" r="r" b="b"/>
            <a:pathLst>
              <a:path w="3840162" h="2228850">
                <a:moveTo>
                  <a:pt x="63500" y="0"/>
                </a:moveTo>
                <a:lnTo>
                  <a:pt x="3776663" y="0"/>
                </a:lnTo>
                <a:cubicBezTo>
                  <a:pt x="3811733" y="0"/>
                  <a:pt x="3840162" y="28430"/>
                  <a:pt x="3840162" y="63500"/>
                </a:cubicBezTo>
                <a:lnTo>
                  <a:pt x="3840162" y="2165350"/>
                </a:lnTo>
                <a:cubicBezTo>
                  <a:pt x="3840163" y="2200420"/>
                  <a:pt x="3811733" y="2228850"/>
                  <a:pt x="3776663" y="2228850"/>
                </a:cubicBezTo>
                <a:lnTo>
                  <a:pt x="63500" y="2228850"/>
                </a:lnTo>
                <a:cubicBezTo>
                  <a:pt x="28430" y="2228850"/>
                  <a:pt x="0" y="2200420"/>
                  <a:pt x="0" y="21653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B7A8F">
              <a:alpha val="14902"/>
            </a:srgbClr>
          </a:solidFill>
          <a:ln w="10160">
            <a:solidFill>
              <a:srgbClr val="6B7A8F">
                <a:alpha val="4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82769" y="5810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35" name="Text 32"/>
          <p:cNvSpPr/>
          <p:nvPr/>
        </p:nvSpPr>
        <p:spPr>
          <a:xfrm>
            <a:off x="8361363" y="5778500"/>
            <a:ext cx="346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Analyst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162925" y="6096000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8226425" y="6175375"/>
            <a:ext cx="357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1517313" y="6159500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B7A8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77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162925" y="6508750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8226425" y="6588125"/>
            <a:ext cx="293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508581" y="6572250"/>
            <a:ext cx="24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75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62925" y="6921500"/>
            <a:ext cx="3579813" cy="349250"/>
          </a:xfrm>
          <a:custGeom>
            <a:avLst/>
            <a:gdLst/>
            <a:ahLst/>
            <a:cxnLst/>
            <a:rect l="l" t="t" r="r" b="b"/>
            <a:pathLst>
              <a:path w="3579813" h="349250">
                <a:moveTo>
                  <a:pt x="31750" y="0"/>
                </a:moveTo>
                <a:lnTo>
                  <a:pt x="3548062" y="0"/>
                </a:lnTo>
                <a:cubicBezTo>
                  <a:pt x="3565597" y="0"/>
                  <a:pt x="3579812" y="14215"/>
                  <a:pt x="3579812" y="31750"/>
                </a:cubicBezTo>
                <a:lnTo>
                  <a:pt x="3579813" y="317500"/>
                </a:lnTo>
                <a:cubicBezTo>
                  <a:pt x="3579812" y="335035"/>
                  <a:pt x="3565597" y="349250"/>
                  <a:pt x="3548062" y="349250"/>
                </a:cubicBezTo>
                <a:lnTo>
                  <a:pt x="31750" y="349250"/>
                </a:lnTo>
                <a:cubicBezTo>
                  <a:pt x="14215" y="349250"/>
                  <a:pt x="0" y="335035"/>
                  <a:pt x="0" y="317500"/>
                </a:cubicBezTo>
                <a:lnTo>
                  <a:pt x="0" y="31750"/>
                </a:lnTo>
                <a:cubicBezTo>
                  <a:pt x="0" y="14215"/>
                  <a:pt x="14215" y="0"/>
                  <a:pt x="3175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8226425" y="7000875"/>
            <a:ext cx="49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Tableau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1486356" y="6985000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40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162925" y="7334250"/>
            <a:ext cx="3643313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 and visualization tools are essential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138" y="339138"/>
            <a:ext cx="11581552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spc="53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 Landscape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138" y="610448"/>
            <a:ext cx="11717207" cy="406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4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Company Revenue Distribution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138" y="1119154"/>
            <a:ext cx="11598509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opportunities across different company sizes and revenue tiers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9138" y="1492206"/>
            <a:ext cx="7494943" cy="5366854"/>
          </a:xfrm>
          <a:custGeom>
            <a:avLst/>
            <a:gdLst/>
            <a:ahLst/>
            <a:cxnLst/>
            <a:rect l="l" t="t" r="r" b="b"/>
            <a:pathLst>
              <a:path w="7494943" h="5366854">
                <a:moveTo>
                  <a:pt x="101756" y="0"/>
                </a:moveTo>
                <a:lnTo>
                  <a:pt x="7393187" y="0"/>
                </a:lnTo>
                <a:cubicBezTo>
                  <a:pt x="7449385" y="0"/>
                  <a:pt x="7494943" y="45558"/>
                  <a:pt x="7494943" y="101756"/>
                </a:cubicBezTo>
                <a:lnTo>
                  <a:pt x="7494943" y="5265098"/>
                </a:lnTo>
                <a:cubicBezTo>
                  <a:pt x="7494943" y="5321296"/>
                  <a:pt x="7449385" y="5366854"/>
                  <a:pt x="7393187" y="5366854"/>
                </a:cubicBezTo>
                <a:lnTo>
                  <a:pt x="101756" y="5366854"/>
                </a:lnTo>
                <a:cubicBezTo>
                  <a:pt x="45558" y="5366854"/>
                  <a:pt x="0" y="5321296"/>
                  <a:pt x="0" y="5265098"/>
                </a:cubicBezTo>
                <a:lnTo>
                  <a:pt x="0" y="101756"/>
                </a:lnTo>
                <a:cubicBezTo>
                  <a:pt x="0" y="45595"/>
                  <a:pt x="45595" y="0"/>
                  <a:pt x="101756" y="0"/>
                </a:cubicBezTo>
                <a:close/>
              </a:path>
            </a:pathLst>
          </a:custGeom>
          <a:solidFill>
            <a:srgbClr val="3A5F7A">
              <a:alpha val="10196"/>
            </a:srgbClr>
          </a:solidFill>
          <a:ln/>
        </p:spPr>
      </p:sp>
      <p:pic>
        <p:nvPicPr>
          <p:cNvPr id="6" name="Image 0" descr="https://kimi-img.moonshot.cn/pub/slides/26-03-12-15:07:15-d6p6c8sbcdrijqldl8j0.png">    </p:cNvPr>
          <p:cNvPicPr>
            <a:picLocks noChangeAspect="1"/>
          </p:cNvPicPr>
          <p:nvPr/>
        </p:nvPicPr>
        <p:blipFill>
          <a:blip r:embed="rId1"/>
          <a:srcRect l="3" r="3" t="0" b="0"/>
          <a:stretch/>
        </p:blipFill>
        <p:spPr>
          <a:xfrm>
            <a:off x="542620" y="1695688"/>
            <a:ext cx="6214698" cy="4959889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8041273" y="1495597"/>
            <a:ext cx="3813603" cy="2363790"/>
          </a:xfrm>
          <a:custGeom>
            <a:avLst/>
            <a:gdLst/>
            <a:ahLst/>
            <a:cxnLst/>
            <a:rect l="l" t="t" r="r" b="b"/>
            <a:pathLst>
              <a:path w="3813603" h="2363790">
                <a:moveTo>
                  <a:pt x="67817" y="0"/>
                </a:moveTo>
                <a:lnTo>
                  <a:pt x="3745786" y="0"/>
                </a:lnTo>
                <a:cubicBezTo>
                  <a:pt x="3783241" y="0"/>
                  <a:pt x="3813603" y="30363"/>
                  <a:pt x="3813603" y="67817"/>
                </a:cubicBezTo>
                <a:lnTo>
                  <a:pt x="3813603" y="2295973"/>
                </a:lnTo>
                <a:cubicBezTo>
                  <a:pt x="3813603" y="2333427"/>
                  <a:pt x="3783241" y="2363790"/>
                  <a:pt x="3745786" y="2363790"/>
                </a:cubicBezTo>
                <a:lnTo>
                  <a:pt x="67817" y="2363790"/>
                </a:lnTo>
                <a:cubicBezTo>
                  <a:pt x="30363" y="2363790"/>
                  <a:pt x="0" y="2333427"/>
                  <a:pt x="0" y="2295973"/>
                </a:cubicBezTo>
                <a:lnTo>
                  <a:pt x="0" y="67817"/>
                </a:lnTo>
                <a:cubicBezTo>
                  <a:pt x="0" y="30388"/>
                  <a:pt x="30388" y="0"/>
                  <a:pt x="67817" y="0"/>
                </a:cubicBezTo>
                <a:close/>
              </a:path>
            </a:pathLst>
          </a:custGeom>
          <a:solidFill>
            <a:srgbClr val="D85D3C">
              <a:alpha val="14902"/>
            </a:srgbClr>
          </a:solidFill>
          <a:ln w="10160">
            <a:solidFill>
              <a:srgbClr val="D85D3C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2711" y="1668556"/>
            <a:ext cx="127177" cy="169569"/>
          </a:xfrm>
          <a:custGeom>
            <a:avLst/>
            <a:gdLst/>
            <a:ahLst/>
            <a:cxnLst/>
            <a:rect l="l" t="t" r="r" b="b"/>
            <a:pathLst>
              <a:path w="127177" h="169569">
                <a:moveTo>
                  <a:pt x="21196" y="0"/>
                </a:moveTo>
                <a:cubicBezTo>
                  <a:pt x="9505" y="0"/>
                  <a:pt x="0" y="9505"/>
                  <a:pt x="0" y="21196"/>
                </a:cubicBezTo>
                <a:lnTo>
                  <a:pt x="0" y="148373"/>
                </a:lnTo>
                <a:cubicBezTo>
                  <a:pt x="0" y="160064"/>
                  <a:pt x="9505" y="169569"/>
                  <a:pt x="21196" y="169569"/>
                </a:cubicBezTo>
                <a:lnTo>
                  <a:pt x="105981" y="169569"/>
                </a:lnTo>
                <a:cubicBezTo>
                  <a:pt x="117672" y="169569"/>
                  <a:pt x="127177" y="160064"/>
                  <a:pt x="127177" y="148373"/>
                </a:cubicBezTo>
                <a:lnTo>
                  <a:pt x="127177" y="21196"/>
                </a:lnTo>
                <a:cubicBezTo>
                  <a:pt x="127177" y="9505"/>
                  <a:pt x="117672" y="0"/>
                  <a:pt x="105981" y="0"/>
                </a:cubicBezTo>
                <a:lnTo>
                  <a:pt x="21196" y="0"/>
                </a:lnTo>
                <a:close/>
                <a:moveTo>
                  <a:pt x="58289" y="116579"/>
                </a:moveTo>
                <a:lnTo>
                  <a:pt x="68887" y="116579"/>
                </a:lnTo>
                <a:cubicBezTo>
                  <a:pt x="74749" y="116579"/>
                  <a:pt x="79485" y="121315"/>
                  <a:pt x="79485" y="127177"/>
                </a:cubicBezTo>
                <a:lnTo>
                  <a:pt x="79485" y="153672"/>
                </a:lnTo>
                <a:lnTo>
                  <a:pt x="47691" y="153672"/>
                </a:lnTo>
                <a:lnTo>
                  <a:pt x="47691" y="127177"/>
                </a:lnTo>
                <a:cubicBezTo>
                  <a:pt x="47691" y="121315"/>
                  <a:pt x="52427" y="116579"/>
                  <a:pt x="58289" y="116579"/>
                </a:cubicBezTo>
                <a:close/>
                <a:moveTo>
                  <a:pt x="31794" y="37093"/>
                </a:moveTo>
                <a:cubicBezTo>
                  <a:pt x="31794" y="34179"/>
                  <a:pt x="34179" y="31794"/>
                  <a:pt x="37093" y="31794"/>
                </a:cubicBezTo>
                <a:lnTo>
                  <a:pt x="47691" y="31794"/>
                </a:lnTo>
                <a:cubicBezTo>
                  <a:pt x="50606" y="31794"/>
                  <a:pt x="52990" y="34179"/>
                  <a:pt x="52990" y="37093"/>
                </a:cubicBezTo>
                <a:lnTo>
                  <a:pt x="52990" y="47691"/>
                </a:lnTo>
                <a:cubicBezTo>
                  <a:pt x="52990" y="50606"/>
                  <a:pt x="50606" y="52990"/>
                  <a:pt x="47691" y="52990"/>
                </a:cubicBezTo>
                <a:lnTo>
                  <a:pt x="37093" y="52990"/>
                </a:lnTo>
                <a:cubicBezTo>
                  <a:pt x="34179" y="52990"/>
                  <a:pt x="31794" y="50606"/>
                  <a:pt x="31794" y="47691"/>
                </a:cubicBezTo>
                <a:lnTo>
                  <a:pt x="31794" y="37093"/>
                </a:lnTo>
                <a:close/>
                <a:moveTo>
                  <a:pt x="79485" y="31794"/>
                </a:moveTo>
                <a:lnTo>
                  <a:pt x="90083" y="31794"/>
                </a:lnTo>
                <a:cubicBezTo>
                  <a:pt x="92998" y="31794"/>
                  <a:pt x="95382" y="34179"/>
                  <a:pt x="95382" y="37093"/>
                </a:cubicBezTo>
                <a:lnTo>
                  <a:pt x="95382" y="47691"/>
                </a:lnTo>
                <a:cubicBezTo>
                  <a:pt x="95382" y="50606"/>
                  <a:pt x="92998" y="52990"/>
                  <a:pt x="90083" y="52990"/>
                </a:cubicBezTo>
                <a:lnTo>
                  <a:pt x="79485" y="52990"/>
                </a:lnTo>
                <a:cubicBezTo>
                  <a:pt x="76571" y="52990"/>
                  <a:pt x="74186" y="50606"/>
                  <a:pt x="74186" y="47691"/>
                </a:cubicBezTo>
                <a:lnTo>
                  <a:pt x="74186" y="37093"/>
                </a:lnTo>
                <a:cubicBezTo>
                  <a:pt x="74186" y="34179"/>
                  <a:pt x="76571" y="31794"/>
                  <a:pt x="79485" y="31794"/>
                </a:cubicBezTo>
                <a:close/>
                <a:moveTo>
                  <a:pt x="31794" y="79485"/>
                </a:moveTo>
                <a:cubicBezTo>
                  <a:pt x="31794" y="76571"/>
                  <a:pt x="34179" y="74186"/>
                  <a:pt x="37093" y="74186"/>
                </a:cubicBezTo>
                <a:lnTo>
                  <a:pt x="47691" y="74186"/>
                </a:lnTo>
                <a:cubicBezTo>
                  <a:pt x="50606" y="74186"/>
                  <a:pt x="52990" y="76571"/>
                  <a:pt x="52990" y="79485"/>
                </a:cubicBezTo>
                <a:lnTo>
                  <a:pt x="52990" y="90083"/>
                </a:lnTo>
                <a:cubicBezTo>
                  <a:pt x="52990" y="92998"/>
                  <a:pt x="50606" y="95382"/>
                  <a:pt x="47691" y="95382"/>
                </a:cubicBezTo>
                <a:lnTo>
                  <a:pt x="37093" y="95382"/>
                </a:lnTo>
                <a:cubicBezTo>
                  <a:pt x="34179" y="95382"/>
                  <a:pt x="31794" y="92998"/>
                  <a:pt x="31794" y="90083"/>
                </a:cubicBezTo>
                <a:lnTo>
                  <a:pt x="31794" y="79485"/>
                </a:lnTo>
                <a:close/>
                <a:moveTo>
                  <a:pt x="79485" y="74186"/>
                </a:moveTo>
                <a:lnTo>
                  <a:pt x="90083" y="74186"/>
                </a:lnTo>
                <a:cubicBezTo>
                  <a:pt x="92998" y="74186"/>
                  <a:pt x="95382" y="76571"/>
                  <a:pt x="95382" y="79485"/>
                </a:cubicBezTo>
                <a:lnTo>
                  <a:pt x="95382" y="90083"/>
                </a:lnTo>
                <a:cubicBezTo>
                  <a:pt x="95382" y="92998"/>
                  <a:pt x="92998" y="95382"/>
                  <a:pt x="90083" y="95382"/>
                </a:cubicBezTo>
                <a:lnTo>
                  <a:pt x="79485" y="95382"/>
                </a:lnTo>
                <a:cubicBezTo>
                  <a:pt x="76571" y="95382"/>
                  <a:pt x="74186" y="92998"/>
                  <a:pt x="74186" y="90083"/>
                </a:cubicBezTo>
                <a:lnTo>
                  <a:pt x="74186" y="79485"/>
                </a:lnTo>
                <a:cubicBezTo>
                  <a:pt x="74186" y="76571"/>
                  <a:pt x="76571" y="74186"/>
                  <a:pt x="79485" y="74186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9" name="Text 6"/>
          <p:cNvSpPr/>
          <p:nvPr/>
        </p:nvSpPr>
        <p:spPr>
          <a:xfrm>
            <a:off x="8392280" y="1634642"/>
            <a:ext cx="3408334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180319" y="2041607"/>
            <a:ext cx="67828" cy="67828"/>
          </a:xfrm>
          <a:custGeom>
            <a:avLst/>
            <a:gdLst/>
            <a:ahLst/>
            <a:cxnLst/>
            <a:rect l="l" t="t" r="r" b="b"/>
            <a:pathLst>
              <a:path w="67828" h="67828">
                <a:moveTo>
                  <a:pt x="33914" y="0"/>
                </a:moveTo>
                <a:lnTo>
                  <a:pt x="33914" y="0"/>
                </a:lnTo>
                <a:cubicBezTo>
                  <a:pt x="52644" y="0"/>
                  <a:pt x="67828" y="15184"/>
                  <a:pt x="67828" y="33914"/>
                </a:cubicBezTo>
                <a:lnTo>
                  <a:pt x="67828" y="33914"/>
                </a:lnTo>
                <a:cubicBezTo>
                  <a:pt x="67828" y="52644"/>
                  <a:pt x="52644" y="67828"/>
                  <a:pt x="33914" y="67828"/>
                </a:cubicBezTo>
                <a:lnTo>
                  <a:pt x="33914" y="67828"/>
                </a:lnTo>
                <a:cubicBezTo>
                  <a:pt x="15184" y="67828"/>
                  <a:pt x="0" y="52644"/>
                  <a:pt x="0" y="33914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1" name="Text 8"/>
          <p:cNvSpPr/>
          <p:nvPr/>
        </p:nvSpPr>
        <p:spPr>
          <a:xfrm>
            <a:off x="8349888" y="1973780"/>
            <a:ext cx="3433769" cy="66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Unknown/Non-profit</a:t>
            </a:r>
            <a:pPr>
              <a:lnSpc>
                <a:spcPct val="140000"/>
              </a:lnSpc>
            </a:pPr>
            <a:r>
              <a:rPr lang="en-US" sz="106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sector offers the most opportunities (~160 jobs), indicating strong demand in research and mission-driven organizations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180319" y="2804667"/>
            <a:ext cx="67828" cy="67828"/>
          </a:xfrm>
          <a:custGeom>
            <a:avLst/>
            <a:gdLst/>
            <a:ahLst/>
            <a:cxnLst/>
            <a:rect l="l" t="t" r="r" b="b"/>
            <a:pathLst>
              <a:path w="67828" h="67828">
                <a:moveTo>
                  <a:pt x="33914" y="0"/>
                </a:moveTo>
                <a:lnTo>
                  <a:pt x="33914" y="0"/>
                </a:lnTo>
                <a:cubicBezTo>
                  <a:pt x="52644" y="0"/>
                  <a:pt x="67828" y="15184"/>
                  <a:pt x="67828" y="33914"/>
                </a:cubicBezTo>
                <a:lnTo>
                  <a:pt x="67828" y="33914"/>
                </a:lnTo>
                <a:cubicBezTo>
                  <a:pt x="67828" y="52644"/>
                  <a:pt x="52644" y="67828"/>
                  <a:pt x="33914" y="67828"/>
                </a:cubicBezTo>
                <a:lnTo>
                  <a:pt x="33914" y="67828"/>
                </a:lnTo>
                <a:cubicBezTo>
                  <a:pt x="15184" y="67828"/>
                  <a:pt x="0" y="52644"/>
                  <a:pt x="0" y="33914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3" name="Text 10"/>
          <p:cNvSpPr/>
          <p:nvPr/>
        </p:nvSpPr>
        <p:spPr>
          <a:xfrm>
            <a:off x="8349888" y="2736840"/>
            <a:ext cx="3433769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enterprises</a:t>
            </a:r>
            <a:pPr>
              <a:lnSpc>
                <a:spcPct val="140000"/>
              </a:lnSpc>
            </a:pPr>
            <a:r>
              <a:rPr lang="en-US" sz="106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($10B+) provide ~80 high-quality positions with competitive compensation packages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80319" y="3347287"/>
            <a:ext cx="67828" cy="67828"/>
          </a:xfrm>
          <a:custGeom>
            <a:avLst/>
            <a:gdLst/>
            <a:ahLst/>
            <a:cxnLst/>
            <a:rect l="l" t="t" r="r" b="b"/>
            <a:pathLst>
              <a:path w="67828" h="67828">
                <a:moveTo>
                  <a:pt x="33914" y="0"/>
                </a:moveTo>
                <a:lnTo>
                  <a:pt x="33914" y="0"/>
                </a:lnTo>
                <a:cubicBezTo>
                  <a:pt x="52644" y="0"/>
                  <a:pt x="67828" y="15184"/>
                  <a:pt x="67828" y="33914"/>
                </a:cubicBezTo>
                <a:lnTo>
                  <a:pt x="67828" y="33914"/>
                </a:lnTo>
                <a:cubicBezTo>
                  <a:pt x="67828" y="52644"/>
                  <a:pt x="52644" y="67828"/>
                  <a:pt x="33914" y="67828"/>
                </a:cubicBezTo>
                <a:lnTo>
                  <a:pt x="33914" y="67828"/>
                </a:lnTo>
                <a:cubicBezTo>
                  <a:pt x="15184" y="67828"/>
                  <a:pt x="0" y="52644"/>
                  <a:pt x="0" y="33914"/>
                </a:cubicBezTo>
                <a:lnTo>
                  <a:pt x="0" y="33914"/>
                </a:lnTo>
                <a:cubicBezTo>
                  <a:pt x="0" y="15184"/>
                  <a:pt x="15184" y="0"/>
                  <a:pt x="33914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15" name="Text 12"/>
          <p:cNvSpPr/>
          <p:nvPr/>
        </p:nvSpPr>
        <p:spPr>
          <a:xfrm>
            <a:off x="8349888" y="3279460"/>
            <a:ext cx="3433769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Mid-market companies</a:t>
            </a:r>
            <a:pPr>
              <a:lnSpc>
                <a:spcPct val="140000"/>
              </a:lnSpc>
            </a:pPr>
            <a:r>
              <a:rPr lang="en-US" sz="1068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($100M-$500M) show strong hiring activity with ~70 opportunities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41273" y="3967916"/>
            <a:ext cx="3813603" cy="2889453"/>
          </a:xfrm>
          <a:custGeom>
            <a:avLst/>
            <a:gdLst/>
            <a:ahLst/>
            <a:cxnLst/>
            <a:rect l="l" t="t" r="r" b="b"/>
            <a:pathLst>
              <a:path w="3813603" h="2889453">
                <a:moveTo>
                  <a:pt x="67815" y="0"/>
                </a:moveTo>
                <a:lnTo>
                  <a:pt x="3745788" y="0"/>
                </a:lnTo>
                <a:cubicBezTo>
                  <a:pt x="3783241" y="0"/>
                  <a:pt x="3813603" y="30362"/>
                  <a:pt x="3813603" y="67815"/>
                </a:cubicBezTo>
                <a:lnTo>
                  <a:pt x="3813603" y="2821638"/>
                </a:lnTo>
                <a:cubicBezTo>
                  <a:pt x="3813603" y="2859091"/>
                  <a:pt x="3783241" y="2889453"/>
                  <a:pt x="3745788" y="2889453"/>
                </a:cubicBezTo>
                <a:lnTo>
                  <a:pt x="67815" y="2889453"/>
                </a:lnTo>
                <a:cubicBezTo>
                  <a:pt x="30362" y="2889453"/>
                  <a:pt x="0" y="2859091"/>
                  <a:pt x="0" y="2821638"/>
                </a:cubicBezTo>
                <a:lnTo>
                  <a:pt x="0" y="67815"/>
                </a:lnTo>
                <a:cubicBezTo>
                  <a:pt x="0" y="30387"/>
                  <a:pt x="30387" y="0"/>
                  <a:pt x="67815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90917" y="4140875"/>
            <a:ext cx="190765" cy="169569"/>
          </a:xfrm>
          <a:custGeom>
            <a:avLst/>
            <a:gdLst/>
            <a:ahLst/>
            <a:cxnLst/>
            <a:rect l="l" t="t" r="r" b="b"/>
            <a:pathLst>
              <a:path w="190765" h="169569">
                <a:moveTo>
                  <a:pt x="102503" y="-6259"/>
                </a:moveTo>
                <a:cubicBezTo>
                  <a:pt x="101145" y="-8909"/>
                  <a:pt x="98396" y="-10598"/>
                  <a:pt x="95416" y="-10598"/>
                </a:cubicBezTo>
                <a:cubicBezTo>
                  <a:pt x="92435" y="-10598"/>
                  <a:pt x="89686" y="-8909"/>
                  <a:pt x="88328" y="-6259"/>
                </a:cubicBezTo>
                <a:lnTo>
                  <a:pt x="63953" y="41498"/>
                </a:lnTo>
                <a:lnTo>
                  <a:pt x="10995" y="49910"/>
                </a:lnTo>
                <a:cubicBezTo>
                  <a:pt x="8048" y="50374"/>
                  <a:pt x="5597" y="52460"/>
                  <a:pt x="4670" y="55309"/>
                </a:cubicBezTo>
                <a:cubicBezTo>
                  <a:pt x="3742" y="58157"/>
                  <a:pt x="4504" y="61270"/>
                  <a:pt x="6591" y="63390"/>
                </a:cubicBezTo>
                <a:lnTo>
                  <a:pt x="44479" y="101311"/>
                </a:lnTo>
                <a:lnTo>
                  <a:pt x="36133" y="154268"/>
                </a:lnTo>
                <a:cubicBezTo>
                  <a:pt x="35669" y="157215"/>
                  <a:pt x="36894" y="160196"/>
                  <a:pt x="39312" y="161951"/>
                </a:cubicBezTo>
                <a:cubicBezTo>
                  <a:pt x="41730" y="163707"/>
                  <a:pt x="44909" y="163972"/>
                  <a:pt x="47592" y="162614"/>
                </a:cubicBezTo>
                <a:lnTo>
                  <a:pt x="95416" y="138305"/>
                </a:lnTo>
                <a:lnTo>
                  <a:pt x="143206" y="162614"/>
                </a:lnTo>
                <a:cubicBezTo>
                  <a:pt x="145856" y="163972"/>
                  <a:pt x="149068" y="163707"/>
                  <a:pt x="151486" y="161951"/>
                </a:cubicBezTo>
                <a:cubicBezTo>
                  <a:pt x="153904" y="160196"/>
                  <a:pt x="155129" y="157249"/>
                  <a:pt x="154665" y="154268"/>
                </a:cubicBezTo>
                <a:lnTo>
                  <a:pt x="146286" y="101311"/>
                </a:lnTo>
                <a:lnTo>
                  <a:pt x="184174" y="63390"/>
                </a:lnTo>
                <a:cubicBezTo>
                  <a:pt x="186294" y="61270"/>
                  <a:pt x="187023" y="58157"/>
                  <a:pt x="186095" y="55309"/>
                </a:cubicBezTo>
                <a:cubicBezTo>
                  <a:pt x="185168" y="52460"/>
                  <a:pt x="182750" y="50374"/>
                  <a:pt x="179769" y="49910"/>
                </a:cubicBezTo>
                <a:lnTo>
                  <a:pt x="126845" y="41498"/>
                </a:lnTo>
                <a:lnTo>
                  <a:pt x="102503" y="-6259"/>
                </a:ln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8" name="Text 15"/>
          <p:cNvSpPr/>
          <p:nvPr/>
        </p:nvSpPr>
        <p:spPr>
          <a:xfrm>
            <a:off x="8392280" y="4106961"/>
            <a:ext cx="3408334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High-Rated Companies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80319" y="4446098"/>
            <a:ext cx="3535510" cy="1017413"/>
          </a:xfrm>
          <a:custGeom>
            <a:avLst/>
            <a:gdLst/>
            <a:ahLst/>
            <a:cxnLst/>
            <a:rect l="l" t="t" r="r" b="b"/>
            <a:pathLst>
              <a:path w="3535510" h="1017413">
                <a:moveTo>
                  <a:pt x="67831" y="0"/>
                </a:moveTo>
                <a:lnTo>
                  <a:pt x="3467680" y="0"/>
                </a:lnTo>
                <a:cubicBezTo>
                  <a:pt x="3505141" y="0"/>
                  <a:pt x="3535510" y="30369"/>
                  <a:pt x="3535510" y="67831"/>
                </a:cubicBezTo>
                <a:lnTo>
                  <a:pt x="3535510" y="949582"/>
                </a:lnTo>
                <a:cubicBezTo>
                  <a:pt x="3535510" y="987044"/>
                  <a:pt x="3505141" y="1017413"/>
                  <a:pt x="3467680" y="1017413"/>
                </a:cubicBezTo>
                <a:lnTo>
                  <a:pt x="67831" y="1017413"/>
                </a:lnTo>
                <a:cubicBezTo>
                  <a:pt x="30369" y="1017413"/>
                  <a:pt x="0" y="987044"/>
                  <a:pt x="0" y="949582"/>
                </a:cubicBezTo>
                <a:lnTo>
                  <a:pt x="0" y="67831"/>
                </a:lnTo>
                <a:cubicBezTo>
                  <a:pt x="0" y="30369"/>
                  <a:pt x="30369" y="0"/>
                  <a:pt x="6783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282061" y="4547840"/>
            <a:ext cx="644362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Jobs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936661" y="4547840"/>
            <a:ext cx="737624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High-Rated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82061" y="4819150"/>
            <a:ext cx="432401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2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742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169076" y="4819150"/>
            <a:ext cx="542620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2" b="1" dirty="0">
                <a:solidFill>
                  <a:srgbClr val="D85D3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~180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82061" y="5158180"/>
            <a:ext cx="3399855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24%</a:t>
            </a:r>
            <a:pPr>
              <a:lnSpc>
                <a:spcPct val="130000"/>
              </a:lnSpc>
            </a:pPr>
            <a:r>
              <a:rPr lang="en-US" sz="1068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jobs are in top-tier companies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180319" y="5565145"/>
            <a:ext cx="3535510" cy="712189"/>
          </a:xfrm>
          <a:custGeom>
            <a:avLst/>
            <a:gdLst/>
            <a:ahLst/>
            <a:cxnLst/>
            <a:rect l="l" t="t" r="r" b="b"/>
            <a:pathLst>
              <a:path w="3535510" h="712189">
                <a:moveTo>
                  <a:pt x="67829" y="0"/>
                </a:moveTo>
                <a:lnTo>
                  <a:pt x="3467682" y="0"/>
                </a:lnTo>
                <a:cubicBezTo>
                  <a:pt x="3505142" y="0"/>
                  <a:pt x="3535510" y="30368"/>
                  <a:pt x="3535510" y="67829"/>
                </a:cubicBezTo>
                <a:lnTo>
                  <a:pt x="3535510" y="644360"/>
                </a:lnTo>
                <a:cubicBezTo>
                  <a:pt x="3535510" y="681821"/>
                  <a:pt x="3505142" y="712189"/>
                  <a:pt x="3467682" y="712189"/>
                </a:cubicBezTo>
                <a:lnTo>
                  <a:pt x="67829" y="712189"/>
                </a:lnTo>
                <a:cubicBezTo>
                  <a:pt x="30368" y="712189"/>
                  <a:pt x="0" y="681821"/>
                  <a:pt x="0" y="644360"/>
                </a:cubicBezTo>
                <a:lnTo>
                  <a:pt x="0" y="67829"/>
                </a:lnTo>
                <a:cubicBezTo>
                  <a:pt x="0" y="30368"/>
                  <a:pt x="30368" y="0"/>
                  <a:pt x="6782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282061" y="5666886"/>
            <a:ext cx="3399855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Segments for Quality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82061" y="5938197"/>
            <a:ext cx="508707" cy="237396"/>
          </a:xfrm>
          <a:custGeom>
            <a:avLst/>
            <a:gdLst/>
            <a:ahLst/>
            <a:cxnLst/>
            <a:rect l="l" t="t" r="r" b="b"/>
            <a:pathLst>
              <a:path w="508707" h="237396">
                <a:moveTo>
                  <a:pt x="118698" y="0"/>
                </a:moveTo>
                <a:lnTo>
                  <a:pt x="390008" y="0"/>
                </a:lnTo>
                <a:cubicBezTo>
                  <a:pt x="455520" y="0"/>
                  <a:pt x="508707" y="53187"/>
                  <a:pt x="508707" y="118698"/>
                </a:cubicBezTo>
                <a:lnTo>
                  <a:pt x="508707" y="118698"/>
                </a:lnTo>
                <a:cubicBezTo>
                  <a:pt x="508707" y="184210"/>
                  <a:pt x="455520" y="237396"/>
                  <a:pt x="390008" y="237396"/>
                </a:cubicBezTo>
                <a:lnTo>
                  <a:pt x="118698" y="237396"/>
                </a:lnTo>
                <a:cubicBezTo>
                  <a:pt x="53187" y="237396"/>
                  <a:pt x="0" y="184210"/>
                  <a:pt x="0" y="118698"/>
                </a:cubicBezTo>
                <a:lnTo>
                  <a:pt x="0" y="118698"/>
                </a:lnTo>
                <a:cubicBezTo>
                  <a:pt x="0" y="53187"/>
                  <a:pt x="53187" y="0"/>
                  <a:pt x="118698" y="0"/>
                </a:cubicBezTo>
                <a:close/>
              </a:path>
            </a:pathLst>
          </a:custGeom>
          <a:solidFill>
            <a:srgbClr val="D85D3C">
              <a:alpha val="3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282061" y="5938197"/>
            <a:ext cx="568056" cy="237396"/>
          </a:xfrm>
          <a:prstGeom prst="rect">
            <a:avLst/>
          </a:prstGeom>
          <a:noFill/>
          <a:ln/>
        </p:spPr>
        <p:txBody>
          <a:bodyPr wrap="square" lIns="101741" tIns="33914" rIns="101741" bIns="33914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$10B+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856263" y="5938197"/>
            <a:ext cx="491750" cy="237396"/>
          </a:xfrm>
          <a:custGeom>
            <a:avLst/>
            <a:gdLst/>
            <a:ahLst/>
            <a:cxnLst/>
            <a:rect l="l" t="t" r="r" b="b"/>
            <a:pathLst>
              <a:path w="491750" h="237396">
                <a:moveTo>
                  <a:pt x="118698" y="0"/>
                </a:moveTo>
                <a:lnTo>
                  <a:pt x="373051" y="0"/>
                </a:lnTo>
                <a:cubicBezTo>
                  <a:pt x="438563" y="0"/>
                  <a:pt x="491750" y="53187"/>
                  <a:pt x="491750" y="118698"/>
                </a:cubicBezTo>
                <a:lnTo>
                  <a:pt x="491750" y="118698"/>
                </a:lnTo>
                <a:cubicBezTo>
                  <a:pt x="491750" y="184210"/>
                  <a:pt x="438563" y="237396"/>
                  <a:pt x="373051" y="237396"/>
                </a:cubicBezTo>
                <a:lnTo>
                  <a:pt x="118698" y="237396"/>
                </a:lnTo>
                <a:cubicBezTo>
                  <a:pt x="53187" y="237396"/>
                  <a:pt x="0" y="184210"/>
                  <a:pt x="0" y="118698"/>
                </a:cubicBezTo>
                <a:lnTo>
                  <a:pt x="0" y="118698"/>
                </a:lnTo>
                <a:cubicBezTo>
                  <a:pt x="0" y="53187"/>
                  <a:pt x="53187" y="0"/>
                  <a:pt x="118698" y="0"/>
                </a:cubicBezTo>
                <a:close/>
              </a:path>
            </a:pathLst>
          </a:custGeom>
          <a:solidFill>
            <a:srgbClr val="3A5F7A">
              <a:alpha val="3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8856263" y="5938197"/>
            <a:ext cx="551099" cy="237396"/>
          </a:xfrm>
          <a:prstGeom prst="rect">
            <a:avLst/>
          </a:prstGeom>
          <a:noFill/>
          <a:ln/>
        </p:spPr>
        <p:txBody>
          <a:bodyPr wrap="square" lIns="101741" tIns="33914" rIns="101741" bIns="33914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3A5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$1-2B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412448" y="5938197"/>
            <a:ext cx="746103" cy="237396"/>
          </a:xfrm>
          <a:custGeom>
            <a:avLst/>
            <a:gdLst/>
            <a:ahLst/>
            <a:cxnLst/>
            <a:rect l="l" t="t" r="r" b="b"/>
            <a:pathLst>
              <a:path w="746103" h="237396">
                <a:moveTo>
                  <a:pt x="118698" y="0"/>
                </a:moveTo>
                <a:lnTo>
                  <a:pt x="627405" y="0"/>
                </a:lnTo>
                <a:cubicBezTo>
                  <a:pt x="692960" y="0"/>
                  <a:pt x="746103" y="53143"/>
                  <a:pt x="746103" y="118698"/>
                </a:cubicBezTo>
                <a:lnTo>
                  <a:pt x="746103" y="118698"/>
                </a:lnTo>
                <a:cubicBezTo>
                  <a:pt x="746103" y="184253"/>
                  <a:pt x="692960" y="237396"/>
                  <a:pt x="627405" y="237396"/>
                </a:cubicBezTo>
                <a:lnTo>
                  <a:pt x="118698" y="237396"/>
                </a:lnTo>
                <a:cubicBezTo>
                  <a:pt x="53187" y="237396"/>
                  <a:pt x="0" y="184210"/>
                  <a:pt x="0" y="118698"/>
                </a:cubicBezTo>
                <a:lnTo>
                  <a:pt x="0" y="118698"/>
                </a:lnTo>
                <a:cubicBezTo>
                  <a:pt x="0" y="53187"/>
                  <a:pt x="53187" y="0"/>
                  <a:pt x="118698" y="0"/>
                </a:cubicBezTo>
                <a:close/>
              </a:path>
            </a:pathLst>
          </a:custGeom>
          <a:solidFill>
            <a:srgbClr val="6B7A8F">
              <a:alpha val="3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412448" y="5938197"/>
            <a:ext cx="805452" cy="237396"/>
          </a:xfrm>
          <a:prstGeom prst="rect">
            <a:avLst/>
          </a:prstGeom>
          <a:noFill/>
          <a:ln/>
        </p:spPr>
        <p:txBody>
          <a:bodyPr wrap="square" lIns="101741" tIns="33914" rIns="101741" bIns="33914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$500M-1B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906506efd857a88a665344fdfbf7e79c9d6fa2d0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69" b="786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3A5F7A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17500" y="31750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spc="63" kern="0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635000"/>
            <a:ext cx="117951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Strategic Insights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1270000"/>
            <a:ext cx="1016000" cy="47625"/>
          </a:xfrm>
          <a:custGeom>
            <a:avLst/>
            <a:gdLst/>
            <a:ahLst/>
            <a:cxnLst/>
            <a:rect l="l" t="t" r="r" b="b"/>
            <a:pathLst>
              <a:path w="1016000" h="47625">
                <a:moveTo>
                  <a:pt x="0" y="0"/>
                </a:moveTo>
                <a:lnTo>
                  <a:pt x="1016000" y="0"/>
                </a:lnTo>
                <a:lnTo>
                  <a:pt x="10160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7" name="Shape 4"/>
          <p:cNvSpPr/>
          <p:nvPr/>
        </p:nvSpPr>
        <p:spPr>
          <a:xfrm>
            <a:off x="320675" y="1511300"/>
            <a:ext cx="5689600" cy="2101850"/>
          </a:xfrm>
          <a:custGeom>
            <a:avLst/>
            <a:gdLst/>
            <a:ahLst/>
            <a:cxnLst/>
            <a:rect l="l" t="t" r="r" b="b"/>
            <a:pathLst>
              <a:path w="5689600" h="2101850">
                <a:moveTo>
                  <a:pt x="95256" y="0"/>
                </a:moveTo>
                <a:lnTo>
                  <a:pt x="5594344" y="0"/>
                </a:lnTo>
                <a:cubicBezTo>
                  <a:pt x="5646953" y="0"/>
                  <a:pt x="5689600" y="42647"/>
                  <a:pt x="5689600" y="95256"/>
                </a:cubicBezTo>
                <a:lnTo>
                  <a:pt x="5689600" y="2006594"/>
                </a:lnTo>
                <a:cubicBezTo>
                  <a:pt x="5689600" y="2059203"/>
                  <a:pt x="5646953" y="2101850"/>
                  <a:pt x="5594344" y="2101850"/>
                </a:cubicBezTo>
                <a:lnTo>
                  <a:pt x="95256" y="2101850"/>
                </a:lnTo>
                <a:cubicBezTo>
                  <a:pt x="42647" y="2101850"/>
                  <a:pt x="0" y="2059203"/>
                  <a:pt x="0" y="200659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4350" y="170497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9" name="Shape 6"/>
          <p:cNvSpPr/>
          <p:nvPr/>
        </p:nvSpPr>
        <p:spPr>
          <a:xfrm>
            <a:off x="651272" y="183991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67112" y="0"/>
                </a:moveTo>
                <a:lnTo>
                  <a:pt x="171292" y="0"/>
                </a:lnTo>
                <a:cubicBezTo>
                  <a:pt x="183617" y="0"/>
                  <a:pt x="193663" y="10139"/>
                  <a:pt x="193198" y="22417"/>
                </a:cubicBezTo>
                <a:cubicBezTo>
                  <a:pt x="193104" y="24882"/>
                  <a:pt x="193011" y="27347"/>
                  <a:pt x="192872" y="29766"/>
                </a:cubicBezTo>
                <a:lnTo>
                  <a:pt x="215940" y="29766"/>
                </a:lnTo>
                <a:cubicBezTo>
                  <a:pt x="228079" y="29766"/>
                  <a:pt x="238776" y="39812"/>
                  <a:pt x="237846" y="52927"/>
                </a:cubicBezTo>
                <a:cubicBezTo>
                  <a:pt x="234358" y="101157"/>
                  <a:pt x="209708" y="127667"/>
                  <a:pt x="182966" y="141526"/>
                </a:cubicBezTo>
                <a:cubicBezTo>
                  <a:pt x="175617" y="145340"/>
                  <a:pt x="168129" y="148177"/>
                  <a:pt x="161013" y="150270"/>
                </a:cubicBezTo>
                <a:cubicBezTo>
                  <a:pt x="151619" y="163571"/>
                  <a:pt x="141852" y="170594"/>
                  <a:pt x="134085" y="174361"/>
                </a:cubicBezTo>
                <a:lnTo>
                  <a:pt x="134085" y="208359"/>
                </a:lnTo>
                <a:lnTo>
                  <a:pt x="163850" y="208359"/>
                </a:lnTo>
                <a:cubicBezTo>
                  <a:pt x="172083" y="208359"/>
                  <a:pt x="178733" y="215010"/>
                  <a:pt x="178733" y="223242"/>
                </a:cubicBezTo>
                <a:cubicBezTo>
                  <a:pt x="178733" y="231474"/>
                  <a:pt x="172083" y="238125"/>
                  <a:pt x="163850" y="238125"/>
                </a:cubicBezTo>
                <a:lnTo>
                  <a:pt x="74554" y="238125"/>
                </a:lnTo>
                <a:cubicBezTo>
                  <a:pt x="66322" y="238125"/>
                  <a:pt x="59671" y="231474"/>
                  <a:pt x="59671" y="223242"/>
                </a:cubicBezTo>
                <a:cubicBezTo>
                  <a:pt x="59671" y="215010"/>
                  <a:pt x="66322" y="208359"/>
                  <a:pt x="74554" y="208359"/>
                </a:cubicBezTo>
                <a:lnTo>
                  <a:pt x="104319" y="208359"/>
                </a:lnTo>
                <a:lnTo>
                  <a:pt x="104319" y="174361"/>
                </a:lnTo>
                <a:cubicBezTo>
                  <a:pt x="96878" y="170780"/>
                  <a:pt x="87623" y="164130"/>
                  <a:pt x="78600" y="151898"/>
                </a:cubicBezTo>
                <a:cubicBezTo>
                  <a:pt x="70042" y="149665"/>
                  <a:pt x="60740" y="146270"/>
                  <a:pt x="51671" y="141154"/>
                </a:cubicBezTo>
                <a:cubicBezTo>
                  <a:pt x="26510" y="127062"/>
                  <a:pt x="3814" y="100505"/>
                  <a:pt x="558" y="52834"/>
                </a:cubicBezTo>
                <a:cubicBezTo>
                  <a:pt x="-326" y="39765"/>
                  <a:pt x="10325" y="29719"/>
                  <a:pt x="22464" y="29719"/>
                </a:cubicBezTo>
                <a:lnTo>
                  <a:pt x="45532" y="29719"/>
                </a:lnTo>
                <a:cubicBezTo>
                  <a:pt x="45393" y="27301"/>
                  <a:pt x="45300" y="24882"/>
                  <a:pt x="45207" y="22371"/>
                </a:cubicBezTo>
                <a:cubicBezTo>
                  <a:pt x="44741" y="10046"/>
                  <a:pt x="54787" y="-47"/>
                  <a:pt x="67112" y="-47"/>
                </a:cubicBezTo>
                <a:close/>
                <a:moveTo>
                  <a:pt x="47206" y="52090"/>
                </a:moveTo>
                <a:lnTo>
                  <a:pt x="22836" y="52090"/>
                </a:lnTo>
                <a:cubicBezTo>
                  <a:pt x="25719" y="91483"/>
                  <a:pt x="43811" y="111203"/>
                  <a:pt x="62461" y="121667"/>
                </a:cubicBezTo>
                <a:cubicBezTo>
                  <a:pt x="55764" y="104319"/>
                  <a:pt x="50229" y="81669"/>
                  <a:pt x="47206" y="52090"/>
                </a:cubicBezTo>
                <a:close/>
                <a:moveTo>
                  <a:pt x="176733" y="119435"/>
                </a:moveTo>
                <a:cubicBezTo>
                  <a:pt x="195569" y="108365"/>
                  <a:pt x="212592" y="88692"/>
                  <a:pt x="215475" y="52090"/>
                </a:cubicBezTo>
                <a:lnTo>
                  <a:pt x="191151" y="52090"/>
                </a:lnTo>
                <a:cubicBezTo>
                  <a:pt x="188268" y="80414"/>
                  <a:pt x="183059" y="102412"/>
                  <a:pt x="176733" y="1194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49350" y="1816098"/>
            <a:ext cx="1984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Salary Leadership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4350" y="2339973"/>
            <a:ext cx="538162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Scientists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command the highest salaries with an average of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$110K+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require advanced Python and machine learning expertise.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4350" y="2951161"/>
            <a:ext cx="5373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Leadership roles like VP Data Science can exceed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$100K+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demonstrating the value of strategic data leadership.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78550" y="1511300"/>
            <a:ext cx="5689600" cy="2101850"/>
          </a:xfrm>
          <a:custGeom>
            <a:avLst/>
            <a:gdLst/>
            <a:ahLst/>
            <a:cxnLst/>
            <a:rect l="l" t="t" r="r" b="b"/>
            <a:pathLst>
              <a:path w="5689600" h="2101850">
                <a:moveTo>
                  <a:pt x="95256" y="0"/>
                </a:moveTo>
                <a:lnTo>
                  <a:pt x="5594344" y="0"/>
                </a:lnTo>
                <a:cubicBezTo>
                  <a:pt x="5646953" y="0"/>
                  <a:pt x="5689600" y="42647"/>
                  <a:pt x="5689600" y="95256"/>
                </a:cubicBezTo>
                <a:lnTo>
                  <a:pt x="5689600" y="2006594"/>
                </a:lnTo>
                <a:cubicBezTo>
                  <a:pt x="5689600" y="2059203"/>
                  <a:pt x="5646953" y="2101850"/>
                  <a:pt x="5594344" y="2101850"/>
                </a:cubicBezTo>
                <a:lnTo>
                  <a:pt x="95256" y="2101850"/>
                </a:lnTo>
                <a:cubicBezTo>
                  <a:pt x="42647" y="2101850"/>
                  <a:pt x="0" y="2059203"/>
                  <a:pt x="0" y="200659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72225" y="170497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A5F7A"/>
          </a:solidFill>
          <a:ln/>
        </p:spPr>
      </p:sp>
      <p:sp>
        <p:nvSpPr>
          <p:cNvPr id="15" name="Shape 12"/>
          <p:cNvSpPr/>
          <p:nvPr/>
        </p:nvSpPr>
        <p:spPr>
          <a:xfrm>
            <a:off x="6509147" y="1839911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29766"/>
                </a:moveTo>
                <a:cubicBezTo>
                  <a:pt x="29766" y="21534"/>
                  <a:pt x="23115" y="14883"/>
                  <a:pt x="14883" y="14883"/>
                </a:cubicBezTo>
                <a:cubicBezTo>
                  <a:pt x="6651" y="14883"/>
                  <a:pt x="0" y="21534"/>
                  <a:pt x="0" y="29766"/>
                </a:cubicBezTo>
                <a:lnTo>
                  <a:pt x="0" y="186035"/>
                </a:lnTo>
                <a:cubicBezTo>
                  <a:pt x="0" y="206592"/>
                  <a:pt x="16650" y="223242"/>
                  <a:pt x="37207" y="223242"/>
                </a:cubicBezTo>
                <a:lnTo>
                  <a:pt x="223242" y="223242"/>
                </a:lnTo>
                <a:cubicBezTo>
                  <a:pt x="231474" y="223242"/>
                  <a:pt x="238125" y="216591"/>
                  <a:pt x="238125" y="208359"/>
                </a:cubicBezTo>
                <a:cubicBezTo>
                  <a:pt x="238125" y="200127"/>
                  <a:pt x="231474" y="193477"/>
                  <a:pt x="223242" y="193477"/>
                </a:cubicBezTo>
                <a:lnTo>
                  <a:pt x="37207" y="193477"/>
                </a:lnTo>
                <a:cubicBezTo>
                  <a:pt x="33114" y="193477"/>
                  <a:pt x="29766" y="190128"/>
                  <a:pt x="29766" y="186035"/>
                </a:cubicBezTo>
                <a:lnTo>
                  <a:pt x="29766" y="29766"/>
                </a:lnTo>
                <a:close/>
                <a:moveTo>
                  <a:pt x="218870" y="70042"/>
                </a:moveTo>
                <a:cubicBezTo>
                  <a:pt x="224684" y="64229"/>
                  <a:pt x="224684" y="54787"/>
                  <a:pt x="218870" y="48974"/>
                </a:cubicBezTo>
                <a:cubicBezTo>
                  <a:pt x="213057" y="43160"/>
                  <a:pt x="203615" y="43160"/>
                  <a:pt x="197802" y="48974"/>
                </a:cubicBezTo>
                <a:lnTo>
                  <a:pt x="148828" y="97994"/>
                </a:lnTo>
                <a:lnTo>
                  <a:pt x="122132" y="71344"/>
                </a:lnTo>
                <a:cubicBezTo>
                  <a:pt x="116318" y="65531"/>
                  <a:pt x="106877" y="65531"/>
                  <a:pt x="101064" y="71344"/>
                </a:cubicBezTo>
                <a:lnTo>
                  <a:pt x="56415" y="115993"/>
                </a:lnTo>
                <a:cubicBezTo>
                  <a:pt x="50602" y="121807"/>
                  <a:pt x="50602" y="131248"/>
                  <a:pt x="56415" y="137061"/>
                </a:cubicBezTo>
                <a:cubicBezTo>
                  <a:pt x="62229" y="142875"/>
                  <a:pt x="71670" y="142875"/>
                  <a:pt x="77484" y="137061"/>
                </a:cubicBezTo>
                <a:lnTo>
                  <a:pt x="111621" y="102924"/>
                </a:lnTo>
                <a:lnTo>
                  <a:pt x="138317" y="129620"/>
                </a:lnTo>
                <a:cubicBezTo>
                  <a:pt x="144131" y="135434"/>
                  <a:pt x="153572" y="135434"/>
                  <a:pt x="159386" y="129620"/>
                </a:cubicBezTo>
                <a:lnTo>
                  <a:pt x="218917" y="7008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007225" y="1816098"/>
            <a:ext cx="2420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 Opportunities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372225" y="2339973"/>
            <a:ext cx="538162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b="1" dirty="0">
                <a:solidFill>
                  <a:srgbClr val="3A5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Analysts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offer the highest job volume with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3A5F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~400+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positions, making it an excellent entry point into the data field.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72225" y="2951161"/>
            <a:ext cx="5373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foundation in Excel and SQL opens doors to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70+ unique job roles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industries.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0675" y="3774286"/>
            <a:ext cx="5689600" cy="2101850"/>
          </a:xfrm>
          <a:custGeom>
            <a:avLst/>
            <a:gdLst/>
            <a:ahLst/>
            <a:cxnLst/>
            <a:rect l="l" t="t" r="r" b="b"/>
            <a:pathLst>
              <a:path w="5689600" h="2101850">
                <a:moveTo>
                  <a:pt x="95256" y="0"/>
                </a:moveTo>
                <a:lnTo>
                  <a:pt x="5594344" y="0"/>
                </a:lnTo>
                <a:cubicBezTo>
                  <a:pt x="5646953" y="0"/>
                  <a:pt x="5689600" y="42647"/>
                  <a:pt x="5689600" y="95256"/>
                </a:cubicBezTo>
                <a:lnTo>
                  <a:pt x="5689600" y="2006594"/>
                </a:lnTo>
                <a:cubicBezTo>
                  <a:pt x="5689600" y="2059203"/>
                  <a:pt x="5646953" y="2101850"/>
                  <a:pt x="5594344" y="2101850"/>
                </a:cubicBezTo>
                <a:lnTo>
                  <a:pt x="95256" y="2101850"/>
                </a:lnTo>
                <a:cubicBezTo>
                  <a:pt x="42647" y="2101850"/>
                  <a:pt x="0" y="2059203"/>
                  <a:pt x="0" y="200659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4350" y="396795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6B7A8F"/>
          </a:solidFill>
          <a:ln/>
        </p:spPr>
      </p:sp>
      <p:sp>
        <p:nvSpPr>
          <p:cNvPr id="21" name="Shape 18"/>
          <p:cNvSpPr/>
          <p:nvPr/>
        </p:nvSpPr>
        <p:spPr>
          <a:xfrm>
            <a:off x="636389" y="4102897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67804" y="558"/>
                </a:moveTo>
                <a:cubicBezTo>
                  <a:pt x="159897" y="-1721"/>
                  <a:pt x="151665" y="2884"/>
                  <a:pt x="149386" y="10790"/>
                </a:cubicBezTo>
                <a:lnTo>
                  <a:pt x="89855" y="219149"/>
                </a:lnTo>
                <a:cubicBezTo>
                  <a:pt x="87576" y="227056"/>
                  <a:pt x="92180" y="235288"/>
                  <a:pt x="100087" y="237567"/>
                </a:cubicBezTo>
                <a:cubicBezTo>
                  <a:pt x="107993" y="239846"/>
                  <a:pt x="116225" y="235241"/>
                  <a:pt x="118504" y="227335"/>
                </a:cubicBezTo>
                <a:lnTo>
                  <a:pt x="178036" y="18976"/>
                </a:lnTo>
                <a:cubicBezTo>
                  <a:pt x="180315" y="11069"/>
                  <a:pt x="175710" y="2837"/>
                  <a:pt x="167804" y="558"/>
                </a:cubicBezTo>
                <a:close/>
                <a:moveTo>
                  <a:pt x="197848" y="63857"/>
                </a:moveTo>
                <a:cubicBezTo>
                  <a:pt x="192035" y="69670"/>
                  <a:pt x="192035" y="79111"/>
                  <a:pt x="197848" y="84925"/>
                </a:cubicBezTo>
                <a:lnTo>
                  <a:pt x="231986" y="119062"/>
                </a:lnTo>
                <a:lnTo>
                  <a:pt x="197848" y="153200"/>
                </a:lnTo>
                <a:cubicBezTo>
                  <a:pt x="192035" y="159014"/>
                  <a:pt x="192035" y="168455"/>
                  <a:pt x="197848" y="174268"/>
                </a:cubicBezTo>
                <a:cubicBezTo>
                  <a:pt x="203662" y="180082"/>
                  <a:pt x="213103" y="180082"/>
                  <a:pt x="218917" y="174268"/>
                </a:cubicBezTo>
                <a:lnTo>
                  <a:pt x="263565" y="129620"/>
                </a:lnTo>
                <a:cubicBezTo>
                  <a:pt x="269379" y="123806"/>
                  <a:pt x="269379" y="114365"/>
                  <a:pt x="263565" y="108552"/>
                </a:cubicBezTo>
                <a:lnTo>
                  <a:pt x="218917" y="63903"/>
                </a:lnTo>
                <a:cubicBezTo>
                  <a:pt x="213103" y="58089"/>
                  <a:pt x="203662" y="58089"/>
                  <a:pt x="197848" y="63903"/>
                </a:cubicBezTo>
                <a:close/>
                <a:moveTo>
                  <a:pt x="70089" y="63857"/>
                </a:moveTo>
                <a:cubicBezTo>
                  <a:pt x="64275" y="58043"/>
                  <a:pt x="54834" y="58043"/>
                  <a:pt x="49020" y="63857"/>
                </a:cubicBezTo>
                <a:lnTo>
                  <a:pt x="4372" y="108505"/>
                </a:lnTo>
                <a:cubicBezTo>
                  <a:pt x="-1442" y="114319"/>
                  <a:pt x="-1442" y="123760"/>
                  <a:pt x="4372" y="129573"/>
                </a:cubicBezTo>
                <a:lnTo>
                  <a:pt x="49020" y="174222"/>
                </a:lnTo>
                <a:cubicBezTo>
                  <a:pt x="54834" y="180036"/>
                  <a:pt x="64275" y="180036"/>
                  <a:pt x="70089" y="174222"/>
                </a:cubicBezTo>
                <a:cubicBezTo>
                  <a:pt x="75902" y="168408"/>
                  <a:pt x="75902" y="158967"/>
                  <a:pt x="70089" y="153153"/>
                </a:cubicBezTo>
                <a:lnTo>
                  <a:pt x="35951" y="119062"/>
                </a:lnTo>
                <a:lnTo>
                  <a:pt x="70042" y="84925"/>
                </a:lnTo>
                <a:cubicBezTo>
                  <a:pt x="75856" y="79111"/>
                  <a:pt x="75856" y="69670"/>
                  <a:pt x="70042" y="638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149350" y="4079084"/>
            <a:ext cx="1539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Skill Priorities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4350" y="4602959"/>
            <a:ext cx="538162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Python, Excel, and SQL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 the essential trinity, appearing in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97-100%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job postings.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4350" y="5214147"/>
            <a:ext cx="5373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skills (AWS, Spark) are increasingly important, especially for Data Engineers seeking premium compensation.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78550" y="3774286"/>
            <a:ext cx="5689600" cy="2101850"/>
          </a:xfrm>
          <a:custGeom>
            <a:avLst/>
            <a:gdLst/>
            <a:ahLst/>
            <a:cxnLst/>
            <a:rect l="l" t="t" r="r" b="b"/>
            <a:pathLst>
              <a:path w="5689600" h="2101850">
                <a:moveTo>
                  <a:pt x="95256" y="0"/>
                </a:moveTo>
                <a:lnTo>
                  <a:pt x="5594344" y="0"/>
                </a:lnTo>
                <a:cubicBezTo>
                  <a:pt x="5646953" y="0"/>
                  <a:pt x="5689600" y="42647"/>
                  <a:pt x="5689600" y="95256"/>
                </a:cubicBezTo>
                <a:lnTo>
                  <a:pt x="5689600" y="2006594"/>
                </a:lnTo>
                <a:cubicBezTo>
                  <a:pt x="5689600" y="2059203"/>
                  <a:pt x="5646953" y="2101850"/>
                  <a:pt x="5594344" y="2101850"/>
                </a:cubicBezTo>
                <a:lnTo>
                  <a:pt x="95256" y="2101850"/>
                </a:lnTo>
                <a:cubicBezTo>
                  <a:pt x="42647" y="2101850"/>
                  <a:pt x="0" y="2059203"/>
                  <a:pt x="0" y="2006594"/>
                </a:cubicBezTo>
                <a:lnTo>
                  <a:pt x="0" y="95256"/>
                </a:lnTo>
                <a:cubicBezTo>
                  <a:pt x="0" y="42683"/>
                  <a:pt x="42683" y="0"/>
                  <a:pt x="95256" y="0"/>
                </a:cubicBezTo>
                <a:close/>
              </a:path>
            </a:pathLst>
          </a:custGeom>
          <a:solidFill>
            <a:srgbClr val="3A5F7A">
              <a:alpha val="14902"/>
            </a:srgbClr>
          </a:solidFill>
          <a:ln w="10160">
            <a:solidFill>
              <a:srgbClr val="3A5F7A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72225" y="396795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27" name="Shape 24"/>
          <p:cNvSpPr/>
          <p:nvPr/>
        </p:nvSpPr>
        <p:spPr>
          <a:xfrm>
            <a:off x="6538912" y="4102897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29766" y="0"/>
                </a:moveTo>
                <a:cubicBezTo>
                  <a:pt x="13348" y="0"/>
                  <a:pt x="0" y="13348"/>
                  <a:pt x="0" y="29766"/>
                </a:cubicBezTo>
                <a:lnTo>
                  <a:pt x="0" y="208359"/>
                </a:lnTo>
                <a:cubicBezTo>
                  <a:pt x="0" y="224777"/>
                  <a:pt x="13348" y="238125"/>
                  <a:pt x="29766" y="238125"/>
                </a:cubicBezTo>
                <a:lnTo>
                  <a:pt x="148828" y="238125"/>
                </a:lnTo>
                <a:cubicBezTo>
                  <a:pt x="165246" y="238125"/>
                  <a:pt x="178594" y="224777"/>
                  <a:pt x="178594" y="208359"/>
                </a:cubicBezTo>
                <a:lnTo>
                  <a:pt x="178594" y="29766"/>
                </a:lnTo>
                <a:cubicBezTo>
                  <a:pt x="178594" y="13348"/>
                  <a:pt x="165246" y="0"/>
                  <a:pt x="148828" y="0"/>
                </a:cubicBezTo>
                <a:lnTo>
                  <a:pt x="29766" y="0"/>
                </a:lnTo>
                <a:close/>
                <a:moveTo>
                  <a:pt x="81855" y="163711"/>
                </a:moveTo>
                <a:lnTo>
                  <a:pt x="96738" y="163711"/>
                </a:lnTo>
                <a:cubicBezTo>
                  <a:pt x="104970" y="163711"/>
                  <a:pt x="111621" y="170362"/>
                  <a:pt x="111621" y="178594"/>
                </a:cubicBezTo>
                <a:lnTo>
                  <a:pt x="111621" y="215801"/>
                </a:lnTo>
                <a:lnTo>
                  <a:pt x="66973" y="215801"/>
                </a:lnTo>
                <a:lnTo>
                  <a:pt x="66973" y="178594"/>
                </a:lnTo>
                <a:cubicBezTo>
                  <a:pt x="66973" y="170362"/>
                  <a:pt x="73623" y="163711"/>
                  <a:pt x="81855" y="163711"/>
                </a:cubicBezTo>
                <a:close/>
                <a:moveTo>
                  <a:pt x="44648" y="52090"/>
                </a:moveTo>
                <a:cubicBezTo>
                  <a:pt x="44648" y="47997"/>
                  <a:pt x="47997" y="44648"/>
                  <a:pt x="52090" y="44648"/>
                </a:cubicBezTo>
                <a:lnTo>
                  <a:pt x="66973" y="44648"/>
                </a:lnTo>
                <a:cubicBezTo>
                  <a:pt x="71065" y="44648"/>
                  <a:pt x="74414" y="47997"/>
                  <a:pt x="74414" y="52090"/>
                </a:cubicBezTo>
                <a:lnTo>
                  <a:pt x="74414" y="66973"/>
                </a:lnTo>
                <a:cubicBezTo>
                  <a:pt x="74414" y="71065"/>
                  <a:pt x="71065" y="74414"/>
                  <a:pt x="66973" y="74414"/>
                </a:cubicBezTo>
                <a:lnTo>
                  <a:pt x="52090" y="74414"/>
                </a:lnTo>
                <a:cubicBezTo>
                  <a:pt x="47997" y="74414"/>
                  <a:pt x="44648" y="71065"/>
                  <a:pt x="44648" y="66973"/>
                </a:cubicBezTo>
                <a:lnTo>
                  <a:pt x="44648" y="52090"/>
                </a:lnTo>
                <a:close/>
                <a:moveTo>
                  <a:pt x="111621" y="44648"/>
                </a:moveTo>
                <a:lnTo>
                  <a:pt x="126504" y="44648"/>
                </a:lnTo>
                <a:cubicBezTo>
                  <a:pt x="130597" y="44648"/>
                  <a:pt x="133945" y="47997"/>
                  <a:pt x="133945" y="52090"/>
                </a:cubicBezTo>
                <a:lnTo>
                  <a:pt x="133945" y="66973"/>
                </a:lnTo>
                <a:cubicBezTo>
                  <a:pt x="133945" y="71065"/>
                  <a:pt x="130597" y="74414"/>
                  <a:pt x="126504" y="74414"/>
                </a:cubicBezTo>
                <a:lnTo>
                  <a:pt x="111621" y="74414"/>
                </a:lnTo>
                <a:cubicBezTo>
                  <a:pt x="107528" y="74414"/>
                  <a:pt x="104180" y="71065"/>
                  <a:pt x="104180" y="66973"/>
                </a:cubicBezTo>
                <a:lnTo>
                  <a:pt x="104180" y="52090"/>
                </a:lnTo>
                <a:cubicBezTo>
                  <a:pt x="104180" y="47997"/>
                  <a:pt x="107528" y="44648"/>
                  <a:pt x="111621" y="44648"/>
                </a:cubicBezTo>
                <a:close/>
                <a:moveTo>
                  <a:pt x="44648" y="111621"/>
                </a:moveTo>
                <a:cubicBezTo>
                  <a:pt x="44648" y="107528"/>
                  <a:pt x="47997" y="104180"/>
                  <a:pt x="52090" y="104180"/>
                </a:cubicBezTo>
                <a:lnTo>
                  <a:pt x="66973" y="104180"/>
                </a:lnTo>
                <a:cubicBezTo>
                  <a:pt x="71065" y="104180"/>
                  <a:pt x="74414" y="107528"/>
                  <a:pt x="74414" y="111621"/>
                </a:cubicBezTo>
                <a:lnTo>
                  <a:pt x="74414" y="126504"/>
                </a:lnTo>
                <a:cubicBezTo>
                  <a:pt x="74414" y="130597"/>
                  <a:pt x="71065" y="133945"/>
                  <a:pt x="66973" y="133945"/>
                </a:cubicBezTo>
                <a:lnTo>
                  <a:pt x="52090" y="133945"/>
                </a:lnTo>
                <a:cubicBezTo>
                  <a:pt x="47997" y="133945"/>
                  <a:pt x="44648" y="130597"/>
                  <a:pt x="44648" y="126504"/>
                </a:cubicBezTo>
                <a:lnTo>
                  <a:pt x="44648" y="111621"/>
                </a:lnTo>
                <a:close/>
                <a:moveTo>
                  <a:pt x="111621" y="104180"/>
                </a:moveTo>
                <a:lnTo>
                  <a:pt x="126504" y="104180"/>
                </a:lnTo>
                <a:cubicBezTo>
                  <a:pt x="130597" y="104180"/>
                  <a:pt x="133945" y="107528"/>
                  <a:pt x="133945" y="111621"/>
                </a:cubicBezTo>
                <a:lnTo>
                  <a:pt x="133945" y="126504"/>
                </a:lnTo>
                <a:cubicBezTo>
                  <a:pt x="133945" y="130597"/>
                  <a:pt x="130597" y="133945"/>
                  <a:pt x="126504" y="133945"/>
                </a:cubicBezTo>
                <a:lnTo>
                  <a:pt x="111621" y="133945"/>
                </a:lnTo>
                <a:cubicBezTo>
                  <a:pt x="107528" y="133945"/>
                  <a:pt x="104180" y="130597"/>
                  <a:pt x="104180" y="126504"/>
                </a:cubicBezTo>
                <a:lnTo>
                  <a:pt x="104180" y="111621"/>
                </a:lnTo>
                <a:cubicBezTo>
                  <a:pt x="104180" y="107528"/>
                  <a:pt x="107528" y="104180"/>
                  <a:pt x="111621" y="1041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7007225" y="4079084"/>
            <a:ext cx="1738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Outlook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372225" y="4602959"/>
            <a:ext cx="538162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D85D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$101.48K average salary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742 opportunities from 343 companies, the data job market demonstrates robust demand.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372225" y="5214147"/>
            <a:ext cx="53736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Diverse opportunities exist across company sizes, from startups to Fortune 500 enterprises.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23850" y="6040439"/>
            <a:ext cx="11545888" cy="869950"/>
          </a:xfrm>
          <a:custGeom>
            <a:avLst/>
            <a:gdLst/>
            <a:ahLst/>
            <a:cxnLst/>
            <a:rect l="l" t="t" r="r" b="b"/>
            <a:pathLst>
              <a:path w="11545888" h="869950">
                <a:moveTo>
                  <a:pt x="95251" y="0"/>
                </a:moveTo>
                <a:lnTo>
                  <a:pt x="11450637" y="0"/>
                </a:lnTo>
                <a:cubicBezTo>
                  <a:pt x="11503242" y="0"/>
                  <a:pt x="11545888" y="42645"/>
                  <a:pt x="11545888" y="95251"/>
                </a:cubicBezTo>
                <a:lnTo>
                  <a:pt x="11545888" y="774699"/>
                </a:lnTo>
                <a:cubicBezTo>
                  <a:pt x="11545887" y="827305"/>
                  <a:pt x="11503242" y="869950"/>
                  <a:pt x="11450637" y="869950"/>
                </a:cubicBezTo>
                <a:lnTo>
                  <a:pt x="95251" y="869950"/>
                </a:lnTo>
                <a:cubicBezTo>
                  <a:pt x="42680" y="869950"/>
                  <a:pt x="0" y="827270"/>
                  <a:pt x="0" y="774699"/>
                </a:cubicBezTo>
                <a:lnTo>
                  <a:pt x="0" y="95251"/>
                </a:lnTo>
                <a:cubicBezTo>
                  <a:pt x="0" y="42680"/>
                  <a:pt x="42680" y="0"/>
                  <a:pt x="95251" y="0"/>
                </a:cubicBezTo>
                <a:close/>
              </a:path>
            </a:pathLst>
          </a:custGeom>
          <a:solidFill>
            <a:srgbClr val="D85D3C">
              <a:alpha val="20000"/>
            </a:srgbClr>
          </a:solidFill>
          <a:ln w="20320">
            <a:solidFill>
              <a:srgbClr val="D85D3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24669" y="633244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D85D3C"/>
          </a:solidFill>
          <a:ln/>
        </p:spPr>
      </p:sp>
      <p:sp>
        <p:nvSpPr>
          <p:cNvPr id="33" name="Text 30"/>
          <p:cNvSpPr/>
          <p:nvPr/>
        </p:nvSpPr>
        <p:spPr>
          <a:xfrm>
            <a:off x="1004887" y="6205536"/>
            <a:ext cx="6897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to Advance Your Data Career?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04887" y="6522943"/>
            <a:ext cx="688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dirty="0">
                <a:solidFill>
                  <a:srgbClr val="6B7A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these insights for strategic career planning, skill development, and job search prioritization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Data Role Job Market Analysis 2024</dc:title>
  <dc:subject>US Data Role Job Market Analysis 2024</dc:subject>
  <dc:creator>Kimi</dc:creator>
  <cp:lastModifiedBy>Kimi</cp:lastModifiedBy>
  <cp:revision>1</cp:revision>
  <dcterms:created xsi:type="dcterms:W3CDTF">2026-03-12T07:10:34Z</dcterms:created>
  <dcterms:modified xsi:type="dcterms:W3CDTF">2026-03-12T07:10:34Z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{"Label":"US Data Role Job Market Analysis 2024","ContentProducer":"001191110108MACG2KBH8F10000","ProduceID":"19ce0d9c-83f2-82fc-8000-0000f854e826","ReservedCode1":"","ContentPropagator":"001191110108MACG2KBH8F20000","PropagateID":"19ce0d9c-83f2-82fc-8000-0000f854e826","ReservedCode2":""}</vt:lpwstr>
  </property>
</Properties>
</file>